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8" r:id="rId1"/>
  </p:sldMasterIdLst>
  <p:notesMasterIdLst>
    <p:notesMasterId r:id="rId12"/>
  </p:notesMasterIdLst>
  <p:sldIdLst>
    <p:sldId id="256" r:id="rId2"/>
    <p:sldId id="327" r:id="rId3"/>
    <p:sldId id="328" r:id="rId4"/>
    <p:sldId id="330" r:id="rId5"/>
    <p:sldId id="333" r:id="rId6"/>
    <p:sldId id="334" r:id="rId7"/>
    <p:sldId id="335" r:id="rId8"/>
    <p:sldId id="332" r:id="rId9"/>
    <p:sldId id="331" r:id="rId10"/>
    <p:sldId id="338" r:id="rId11"/>
  </p:sldIdLst>
  <p:sldSz cx="10150475" cy="7616825"/>
  <p:notesSz cx="6867525" cy="9993313"/>
  <p:defaultTextStyle>
    <a:defPPr>
      <a:defRPr lang="en-US"/>
    </a:defPPr>
    <a:lvl1pPr algn="l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charset="0"/>
        <a:ea typeface="굴림" charset="-127"/>
        <a:cs typeface="+mn-cs"/>
      </a:defRPr>
    </a:lvl1pPr>
    <a:lvl2pPr marL="455613" indent="1588" algn="l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charset="0"/>
        <a:ea typeface="굴림" charset="-127"/>
        <a:cs typeface="+mn-cs"/>
      </a:defRPr>
    </a:lvl2pPr>
    <a:lvl3pPr marL="912813" indent="1588" algn="l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charset="0"/>
        <a:ea typeface="굴림" charset="-127"/>
        <a:cs typeface="+mn-cs"/>
      </a:defRPr>
    </a:lvl3pPr>
    <a:lvl4pPr marL="1370013" indent="1588" algn="l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charset="0"/>
        <a:ea typeface="굴림" charset="-127"/>
        <a:cs typeface="+mn-cs"/>
      </a:defRPr>
    </a:lvl4pPr>
    <a:lvl5pPr marL="1827213" indent="1588" algn="l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charset="0"/>
        <a:ea typeface="굴림" charset="-127"/>
        <a:cs typeface="+mn-cs"/>
      </a:defRPr>
    </a:lvl5pPr>
    <a:lvl6pPr marL="2286000" algn="l" defTabSz="914400" rtl="0" eaLnBrk="1" latinLnBrk="1" hangingPunct="1">
      <a:defRPr kumimoji="1" sz="2400" kern="1200">
        <a:solidFill>
          <a:schemeClr val="tx1"/>
        </a:solidFill>
        <a:latin typeface="Arial" charset="0"/>
        <a:ea typeface="굴림" charset="-127"/>
        <a:cs typeface="+mn-cs"/>
      </a:defRPr>
    </a:lvl6pPr>
    <a:lvl7pPr marL="2743200" algn="l" defTabSz="914400" rtl="0" eaLnBrk="1" latinLnBrk="1" hangingPunct="1">
      <a:defRPr kumimoji="1" sz="2400" kern="1200">
        <a:solidFill>
          <a:schemeClr val="tx1"/>
        </a:solidFill>
        <a:latin typeface="Arial" charset="0"/>
        <a:ea typeface="굴림" charset="-127"/>
        <a:cs typeface="+mn-cs"/>
      </a:defRPr>
    </a:lvl7pPr>
    <a:lvl8pPr marL="3200400" algn="l" defTabSz="914400" rtl="0" eaLnBrk="1" latinLnBrk="1" hangingPunct="1">
      <a:defRPr kumimoji="1" sz="2400" kern="1200">
        <a:solidFill>
          <a:schemeClr val="tx1"/>
        </a:solidFill>
        <a:latin typeface="Arial" charset="0"/>
        <a:ea typeface="굴림" charset="-127"/>
        <a:cs typeface="+mn-cs"/>
      </a:defRPr>
    </a:lvl8pPr>
    <a:lvl9pPr marL="3657600" algn="l" defTabSz="914400" rtl="0" eaLnBrk="1" latinLnBrk="1" hangingPunct="1">
      <a:defRPr kumimoji="1" sz="2400" kern="1200">
        <a:solidFill>
          <a:schemeClr val="tx1"/>
        </a:solidFill>
        <a:latin typeface="Arial" charset="0"/>
        <a:ea typeface="굴림" charset="-127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F624757D-FF22-4146-A8C0-1F88F91B9065}">
          <p14:sldIdLst>
            <p14:sldId id="256"/>
            <p14:sldId id="327"/>
            <p14:sldId id="328"/>
            <p14:sldId id="330"/>
            <p14:sldId id="333"/>
            <p14:sldId id="334"/>
            <p14:sldId id="335"/>
            <p14:sldId id="332"/>
            <p14:sldId id="331"/>
            <p14:sldId id="33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399">
          <p15:clr>
            <a:srgbClr val="A4A3A4"/>
          </p15:clr>
        </p15:guide>
        <p15:guide id="2" pos="319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931CD"/>
    <a:srgbClr val="25165A"/>
    <a:srgbClr val="181C5A"/>
    <a:srgbClr val="047E96"/>
    <a:srgbClr val="047E6F"/>
    <a:srgbClr val="B2B2B2"/>
    <a:srgbClr val="181C76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268" autoAdjust="0"/>
    <p:restoredTop sz="86988" autoAdjust="0"/>
  </p:normalViewPr>
  <p:slideViewPr>
    <p:cSldViewPr>
      <p:cViewPr varScale="1">
        <p:scale>
          <a:sx n="64" d="100"/>
          <a:sy n="64" d="100"/>
        </p:scale>
        <p:origin x="1723" y="77"/>
      </p:cViewPr>
      <p:guideLst>
        <p:guide orient="horz" pos="2399"/>
        <p:guide pos="3197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4975" cy="500063"/>
          </a:xfrm>
          <a:prstGeom prst="rect">
            <a:avLst/>
          </a:prstGeom>
        </p:spPr>
        <p:txBody>
          <a:bodyPr vert="horz" lIns="93257" tIns="46629" rIns="93257" bIns="46629" rtlCol="0"/>
          <a:lstStyle>
            <a:lvl1pPr algn="l">
              <a:defRPr sz="1200">
                <a:latin typeface="Arial" pitchFamily="34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90963" y="1"/>
            <a:ext cx="2974975" cy="500063"/>
          </a:xfrm>
          <a:prstGeom prst="rect">
            <a:avLst/>
          </a:prstGeom>
        </p:spPr>
        <p:txBody>
          <a:bodyPr vert="horz" lIns="93257" tIns="46629" rIns="93257" bIns="46629" rtlCol="0"/>
          <a:lstStyle>
            <a:lvl1pPr algn="r">
              <a:defRPr sz="1200">
                <a:latin typeface="Arial" pitchFamily="34" charset="0"/>
                <a:ea typeface="굴림" pitchFamily="50" charset="-127"/>
              </a:defRPr>
            </a:lvl1pPr>
          </a:lstStyle>
          <a:p>
            <a:pPr>
              <a:defRPr/>
            </a:pPr>
            <a:fld id="{6F53BD90-AB00-4DC9-AAE0-6AB32369C644}" type="datetimeFigureOut">
              <a:rPr lang="ko-KR" altLang="en-US"/>
              <a:pPr>
                <a:defRPr/>
              </a:pPr>
              <a:t>2025-08-11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36625" y="749300"/>
            <a:ext cx="4994275" cy="3748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257" tIns="46629" rIns="93257" bIns="46629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7389" y="4746625"/>
            <a:ext cx="5492750" cy="4497388"/>
          </a:xfrm>
          <a:prstGeom prst="rect">
            <a:avLst/>
          </a:prstGeom>
        </p:spPr>
        <p:txBody>
          <a:bodyPr vert="horz" lIns="93257" tIns="46629" rIns="93257" bIns="46629" rtlCol="0">
            <a:normAutofit/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91663"/>
            <a:ext cx="2974975" cy="500062"/>
          </a:xfrm>
          <a:prstGeom prst="rect">
            <a:avLst/>
          </a:prstGeom>
        </p:spPr>
        <p:txBody>
          <a:bodyPr vert="horz" lIns="93257" tIns="46629" rIns="93257" bIns="46629" rtlCol="0" anchor="b"/>
          <a:lstStyle>
            <a:lvl1pPr algn="l">
              <a:defRPr sz="1200">
                <a:latin typeface="Arial" pitchFamily="34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90963" y="9491663"/>
            <a:ext cx="2974975" cy="500062"/>
          </a:xfrm>
          <a:prstGeom prst="rect">
            <a:avLst/>
          </a:prstGeom>
        </p:spPr>
        <p:txBody>
          <a:bodyPr vert="horz" lIns="93257" tIns="46629" rIns="93257" bIns="46629" rtlCol="0" anchor="b"/>
          <a:lstStyle>
            <a:lvl1pPr algn="r">
              <a:defRPr sz="1200">
                <a:latin typeface="Arial" pitchFamily="34" charset="0"/>
                <a:ea typeface="굴림" pitchFamily="50" charset="-127"/>
              </a:defRPr>
            </a:lvl1pPr>
          </a:lstStyle>
          <a:p>
            <a:pPr>
              <a:defRPr/>
            </a:pPr>
            <a:fld id="{CE645212-C18D-4FA6-93DE-554FA9BF63B7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912813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5613" algn="l" defTabSz="912813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2813" algn="l" defTabSz="912813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0013" algn="l" defTabSz="912813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7213" algn="l" defTabSz="912813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709" algn="l" defTabSz="914283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850" algn="l" defTabSz="914283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9991" algn="l" defTabSz="914283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134" algn="l" defTabSz="914283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8675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8676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0DC0038C-F68B-41DA-B48C-253106C7501B}" type="slidenum">
              <a:rPr lang="ko-KR" altLang="en-US" smtClean="0">
                <a:latin typeface="Arial" charset="0"/>
                <a:ea typeface="굴림" charset="-127"/>
              </a:rPr>
              <a:pPr/>
              <a:t>1</a:t>
            </a:fld>
            <a:endParaRPr lang="ko-KR" altLang="en-US">
              <a:latin typeface="Arial" charset="0"/>
              <a:ea typeface="굴림" charset="-127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E645212-C18D-4FA6-93DE-554FA9BF63B7}" type="slidenum">
              <a:rPr lang="ko-KR" altLang="en-US" smtClean="0"/>
              <a:pPr>
                <a:defRPr/>
              </a:pPr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11531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E645212-C18D-4FA6-93DE-554FA9BF63B7}" type="slidenum">
              <a:rPr lang="ko-KR" altLang="en-US" smtClean="0"/>
              <a:pPr>
                <a:defRPr/>
              </a:pPr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11810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E645212-C18D-4FA6-93DE-554FA9BF63B7}" type="slidenum">
              <a:rPr lang="ko-KR" altLang="en-US" smtClean="0"/>
              <a:pPr>
                <a:defRPr/>
              </a:pPr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609191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61286" y="2366154"/>
            <a:ext cx="8627904" cy="163268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2571" y="4316201"/>
            <a:ext cx="7105333" cy="194652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075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151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227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0303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5379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0455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5531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0607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254366-27A4-4EEF-856F-C0352CFEB94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F8DBBF-AF6A-43BA-B0CC-7F79D7841A2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01817" y="4894517"/>
            <a:ext cx="8627904" cy="1512786"/>
          </a:xfrm>
        </p:spPr>
        <p:txBody>
          <a:bodyPr anchor="t"/>
          <a:lstStyle>
            <a:lvl1pPr algn="l">
              <a:defRPr sz="44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01817" y="3228337"/>
            <a:ext cx="8627904" cy="1666180"/>
          </a:xfrm>
        </p:spPr>
        <p:txBody>
          <a:bodyPr anchor="b"/>
          <a:lstStyle>
            <a:lvl1pPr marL="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507597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101519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52279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203038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53798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304558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5531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406077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A14299-3E88-4294-B616-17C6C63FE1A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563915" y="1974734"/>
            <a:ext cx="4985364" cy="5582145"/>
          </a:xfrm>
        </p:spPr>
        <p:txBody>
          <a:bodyPr/>
          <a:lstStyle>
            <a:lvl1pPr>
              <a:defRPr sz="3100"/>
            </a:lvl1pPr>
            <a:lvl2pPr>
              <a:defRPr sz="27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718456" y="1974734"/>
            <a:ext cx="4985363" cy="5582145"/>
          </a:xfrm>
        </p:spPr>
        <p:txBody>
          <a:bodyPr/>
          <a:lstStyle>
            <a:lvl1pPr>
              <a:defRPr sz="3100"/>
            </a:lvl1pPr>
            <a:lvl2pPr>
              <a:defRPr sz="27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FC2489-4250-4D4D-B562-A23FD9D093B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07524" y="305026"/>
            <a:ext cx="9135428" cy="1269471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07525" y="1704971"/>
            <a:ext cx="4484889" cy="710550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07597" indent="0">
              <a:buNone/>
              <a:defRPr sz="2200" b="1"/>
            </a:lvl2pPr>
            <a:lvl3pPr marL="1015193" indent="0">
              <a:buNone/>
              <a:defRPr sz="2000" b="1"/>
            </a:lvl3pPr>
            <a:lvl4pPr marL="1522790" indent="0">
              <a:buNone/>
              <a:defRPr sz="1800" b="1"/>
            </a:lvl4pPr>
            <a:lvl5pPr marL="2030388" indent="0">
              <a:buNone/>
              <a:defRPr sz="1800" b="1"/>
            </a:lvl5pPr>
            <a:lvl6pPr marL="2537984" indent="0">
              <a:buNone/>
              <a:defRPr sz="1800" b="1"/>
            </a:lvl6pPr>
            <a:lvl7pPr marL="3045581" indent="0">
              <a:buNone/>
              <a:defRPr sz="1800" b="1"/>
            </a:lvl7pPr>
            <a:lvl8pPr marL="3553178" indent="0">
              <a:buNone/>
              <a:defRPr sz="1800" b="1"/>
            </a:lvl8pPr>
            <a:lvl9pPr marL="4060773" indent="0">
              <a:buNone/>
              <a:defRPr sz="18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7525" y="2415522"/>
            <a:ext cx="4484889" cy="4388491"/>
          </a:xfrm>
        </p:spPr>
        <p:txBody>
          <a:bodyPr/>
          <a:lstStyle>
            <a:lvl1pPr>
              <a:defRPr sz="27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156302" y="1704971"/>
            <a:ext cx="4486651" cy="710550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07597" indent="0">
              <a:buNone/>
              <a:defRPr sz="2200" b="1"/>
            </a:lvl2pPr>
            <a:lvl3pPr marL="1015193" indent="0">
              <a:buNone/>
              <a:defRPr sz="2000" b="1"/>
            </a:lvl3pPr>
            <a:lvl4pPr marL="1522790" indent="0">
              <a:buNone/>
              <a:defRPr sz="1800" b="1"/>
            </a:lvl4pPr>
            <a:lvl5pPr marL="2030388" indent="0">
              <a:buNone/>
              <a:defRPr sz="1800" b="1"/>
            </a:lvl5pPr>
            <a:lvl6pPr marL="2537984" indent="0">
              <a:buNone/>
              <a:defRPr sz="1800" b="1"/>
            </a:lvl6pPr>
            <a:lvl7pPr marL="3045581" indent="0">
              <a:buNone/>
              <a:defRPr sz="1800" b="1"/>
            </a:lvl7pPr>
            <a:lvl8pPr marL="3553178" indent="0">
              <a:buNone/>
              <a:defRPr sz="1800" b="1"/>
            </a:lvl8pPr>
            <a:lvl9pPr marL="4060773" indent="0">
              <a:buNone/>
              <a:defRPr sz="18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156302" y="2415522"/>
            <a:ext cx="4486651" cy="4388491"/>
          </a:xfrm>
        </p:spPr>
        <p:txBody>
          <a:bodyPr/>
          <a:lstStyle>
            <a:lvl1pPr>
              <a:defRPr sz="27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B71FD2-6308-4583-A846-9C8F0F347FC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1BC72E-E8C1-4CEF-8BF7-B04F9B0C0D5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1C3EB1-44E3-4BAF-A3DE-0D29EED73D7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07524" y="303262"/>
            <a:ext cx="3339436" cy="1290629"/>
          </a:xfrm>
        </p:spPr>
        <p:txBody>
          <a:bodyPr anchor="b"/>
          <a:lstStyle>
            <a:lvl1pPr algn="l">
              <a:defRPr sz="22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968554" y="303264"/>
            <a:ext cx="5674397" cy="6500749"/>
          </a:xfrm>
        </p:spPr>
        <p:txBody>
          <a:bodyPr/>
          <a:lstStyle>
            <a:lvl1pPr>
              <a:defRPr sz="3600"/>
            </a:lvl1pPr>
            <a:lvl2pPr>
              <a:defRPr sz="3100"/>
            </a:lvl2pPr>
            <a:lvl3pPr>
              <a:defRPr sz="27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507524" y="1593893"/>
            <a:ext cx="3339436" cy="5210120"/>
          </a:xfrm>
        </p:spPr>
        <p:txBody>
          <a:bodyPr/>
          <a:lstStyle>
            <a:lvl1pPr marL="0" indent="0">
              <a:buNone/>
              <a:defRPr sz="1600"/>
            </a:lvl1pPr>
            <a:lvl2pPr marL="507597" indent="0">
              <a:buNone/>
              <a:defRPr sz="1300"/>
            </a:lvl2pPr>
            <a:lvl3pPr marL="1015193" indent="0">
              <a:buNone/>
              <a:defRPr sz="1100"/>
            </a:lvl3pPr>
            <a:lvl4pPr marL="1522790" indent="0">
              <a:buNone/>
              <a:defRPr sz="1000"/>
            </a:lvl4pPr>
            <a:lvl5pPr marL="2030388" indent="0">
              <a:buNone/>
              <a:defRPr sz="1000"/>
            </a:lvl5pPr>
            <a:lvl6pPr marL="2537984" indent="0">
              <a:buNone/>
              <a:defRPr sz="1000"/>
            </a:lvl6pPr>
            <a:lvl7pPr marL="3045581" indent="0">
              <a:buNone/>
              <a:defRPr sz="1000"/>
            </a:lvl7pPr>
            <a:lvl8pPr marL="3553178" indent="0">
              <a:buNone/>
              <a:defRPr sz="1000"/>
            </a:lvl8pPr>
            <a:lvl9pPr marL="4060773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BA474B-9F25-4054-AA13-C50BE708443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89564" y="5331777"/>
            <a:ext cx="6090285" cy="629447"/>
          </a:xfrm>
        </p:spPr>
        <p:txBody>
          <a:bodyPr anchor="b"/>
          <a:lstStyle>
            <a:lvl1pPr algn="l">
              <a:defRPr sz="22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89564" y="680577"/>
            <a:ext cx="6090285" cy="4570095"/>
          </a:xfrm>
        </p:spPr>
        <p:txBody>
          <a:bodyPr rtlCol="0">
            <a:normAutofit/>
          </a:bodyPr>
          <a:lstStyle>
            <a:lvl1pPr marL="0" indent="0">
              <a:buNone/>
              <a:defRPr sz="3600"/>
            </a:lvl1pPr>
            <a:lvl2pPr marL="507597" indent="0">
              <a:buNone/>
              <a:defRPr sz="3100"/>
            </a:lvl2pPr>
            <a:lvl3pPr marL="1015193" indent="0">
              <a:buNone/>
              <a:defRPr sz="2700"/>
            </a:lvl3pPr>
            <a:lvl4pPr marL="1522790" indent="0">
              <a:buNone/>
              <a:defRPr sz="2200"/>
            </a:lvl4pPr>
            <a:lvl5pPr marL="2030388" indent="0">
              <a:buNone/>
              <a:defRPr sz="2200"/>
            </a:lvl5pPr>
            <a:lvl6pPr marL="2537984" indent="0">
              <a:buNone/>
              <a:defRPr sz="2200"/>
            </a:lvl6pPr>
            <a:lvl7pPr marL="3045581" indent="0">
              <a:buNone/>
              <a:defRPr sz="2200"/>
            </a:lvl7pPr>
            <a:lvl8pPr marL="3553178" indent="0">
              <a:buNone/>
              <a:defRPr sz="2200"/>
            </a:lvl8pPr>
            <a:lvl9pPr marL="4060773" indent="0">
              <a:buNone/>
              <a:defRPr sz="22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89564" y="5961224"/>
            <a:ext cx="6090285" cy="893918"/>
          </a:xfrm>
        </p:spPr>
        <p:txBody>
          <a:bodyPr/>
          <a:lstStyle>
            <a:lvl1pPr marL="0" indent="0">
              <a:buNone/>
              <a:defRPr sz="1600"/>
            </a:lvl1pPr>
            <a:lvl2pPr marL="507597" indent="0">
              <a:buNone/>
              <a:defRPr sz="1300"/>
            </a:lvl2pPr>
            <a:lvl3pPr marL="1015193" indent="0">
              <a:buNone/>
              <a:defRPr sz="1100"/>
            </a:lvl3pPr>
            <a:lvl4pPr marL="1522790" indent="0">
              <a:buNone/>
              <a:defRPr sz="1000"/>
            </a:lvl4pPr>
            <a:lvl5pPr marL="2030388" indent="0">
              <a:buNone/>
              <a:defRPr sz="1000"/>
            </a:lvl5pPr>
            <a:lvl6pPr marL="2537984" indent="0">
              <a:buNone/>
              <a:defRPr sz="1000"/>
            </a:lvl6pPr>
            <a:lvl7pPr marL="3045581" indent="0">
              <a:buNone/>
              <a:defRPr sz="1000"/>
            </a:lvl7pPr>
            <a:lvl8pPr marL="3553178" indent="0">
              <a:buNone/>
              <a:defRPr sz="1000"/>
            </a:lvl8pPr>
            <a:lvl9pPr marL="4060773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4195A4-8676-4381-BBD5-E8670867FAB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2C4BE1-04F8-4824-A942-691F75B9BB5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169723" y="338526"/>
            <a:ext cx="2534094" cy="7218352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563915" y="338526"/>
            <a:ext cx="7436633" cy="7218352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7B2EF2-E12B-4E6A-9598-21432627B96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제목 개체 틀 1"/>
          <p:cNvSpPr>
            <a:spLocks noGrp="1"/>
          </p:cNvSpPr>
          <p:nvPr>
            <p:ph type="title"/>
          </p:nvPr>
        </p:nvSpPr>
        <p:spPr bwMode="auto">
          <a:xfrm>
            <a:off x="508000" y="304800"/>
            <a:ext cx="9134475" cy="127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519" tIns="50760" rIns="101519" bIns="5076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5123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508000" y="1778000"/>
            <a:ext cx="9134475" cy="5026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519" tIns="50760" rIns="101519" bIns="5076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508000" y="7059613"/>
            <a:ext cx="2368550" cy="404812"/>
          </a:xfrm>
          <a:prstGeom prst="rect">
            <a:avLst/>
          </a:prstGeom>
        </p:spPr>
        <p:txBody>
          <a:bodyPr vert="horz" lIns="101519" tIns="50760" rIns="101519" bIns="50760" rtlCol="0" anchor="ctr"/>
          <a:lstStyle>
            <a:lvl1pPr algn="l">
              <a:defRPr sz="1300">
                <a:solidFill>
                  <a:schemeClr val="tx1">
                    <a:tint val="75000"/>
                  </a:schemeClr>
                </a:solidFill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468688" y="7059613"/>
            <a:ext cx="3213100" cy="404812"/>
          </a:xfrm>
          <a:prstGeom prst="rect">
            <a:avLst/>
          </a:prstGeom>
        </p:spPr>
        <p:txBody>
          <a:bodyPr vert="horz" lIns="101519" tIns="50760" rIns="101519" bIns="50760" rtlCol="0" anchor="ctr"/>
          <a:lstStyle>
            <a:lvl1pPr algn="ctr">
              <a:defRPr sz="1300">
                <a:solidFill>
                  <a:schemeClr val="tx1">
                    <a:tint val="75000"/>
                  </a:schemeClr>
                </a:solidFill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273925" y="7059613"/>
            <a:ext cx="2368550" cy="404812"/>
          </a:xfrm>
          <a:prstGeom prst="rect">
            <a:avLst/>
          </a:prstGeom>
        </p:spPr>
        <p:txBody>
          <a:bodyPr vert="horz" lIns="101519" tIns="50760" rIns="101519" bIns="50760" rtlCol="0" anchor="ctr"/>
          <a:lstStyle>
            <a:lvl1pPr algn="r">
              <a:defRPr sz="1300">
                <a:solidFill>
                  <a:schemeClr val="tx1">
                    <a:tint val="75000"/>
                  </a:schemeClr>
                </a:solidFill>
                <a:ea typeface="굴림" charset="-127"/>
              </a:defRPr>
            </a:lvl1pPr>
          </a:lstStyle>
          <a:p>
            <a:pPr>
              <a:defRPr/>
            </a:pPr>
            <a:fld id="{59084CA7-34C2-4DF0-BE47-D5381B95D65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9" r:id="rId1"/>
    <p:sldLayoutId id="2147483860" r:id="rId2"/>
    <p:sldLayoutId id="2147483861" r:id="rId3"/>
    <p:sldLayoutId id="2147483862" r:id="rId4"/>
    <p:sldLayoutId id="2147483863" r:id="rId5"/>
    <p:sldLayoutId id="2147483864" r:id="rId6"/>
    <p:sldLayoutId id="2147483865" r:id="rId7"/>
    <p:sldLayoutId id="2147483866" r:id="rId8"/>
    <p:sldLayoutId id="2147483867" r:id="rId9"/>
    <p:sldLayoutId id="2147483868" r:id="rId10"/>
    <p:sldLayoutId id="2147483869" r:id="rId11"/>
  </p:sldLayoutIdLst>
  <p:txStyles>
    <p:titleStyle>
      <a:lvl1pPr algn="ctr" defTabSz="1014413" rtl="0" eaLnBrk="0" fontAlgn="base" latinLnBrk="1" hangingPunct="0">
        <a:spcBef>
          <a:spcPct val="0"/>
        </a:spcBef>
        <a:spcAft>
          <a:spcPct val="0"/>
        </a:spcAft>
        <a:defRPr sz="49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1014413" rtl="0" eaLnBrk="0" fontAlgn="base" latinLnBrk="1" hangingPunct="0">
        <a:spcBef>
          <a:spcPct val="0"/>
        </a:spcBef>
        <a:spcAft>
          <a:spcPct val="0"/>
        </a:spcAft>
        <a:defRPr sz="4900">
          <a:solidFill>
            <a:schemeClr val="tx1"/>
          </a:solidFill>
          <a:latin typeface="맑은 고딕" pitchFamily="50" charset="-127"/>
        </a:defRPr>
      </a:lvl2pPr>
      <a:lvl3pPr algn="ctr" defTabSz="1014413" rtl="0" eaLnBrk="0" fontAlgn="base" latinLnBrk="1" hangingPunct="0">
        <a:spcBef>
          <a:spcPct val="0"/>
        </a:spcBef>
        <a:spcAft>
          <a:spcPct val="0"/>
        </a:spcAft>
        <a:defRPr sz="4900">
          <a:solidFill>
            <a:schemeClr val="tx1"/>
          </a:solidFill>
          <a:latin typeface="맑은 고딕" pitchFamily="50" charset="-127"/>
        </a:defRPr>
      </a:lvl3pPr>
      <a:lvl4pPr algn="ctr" defTabSz="1014413" rtl="0" eaLnBrk="0" fontAlgn="base" latinLnBrk="1" hangingPunct="0">
        <a:spcBef>
          <a:spcPct val="0"/>
        </a:spcBef>
        <a:spcAft>
          <a:spcPct val="0"/>
        </a:spcAft>
        <a:defRPr sz="4900">
          <a:solidFill>
            <a:schemeClr val="tx1"/>
          </a:solidFill>
          <a:latin typeface="맑은 고딕" pitchFamily="50" charset="-127"/>
        </a:defRPr>
      </a:lvl4pPr>
      <a:lvl5pPr algn="ctr" defTabSz="1014413" rtl="0" eaLnBrk="0" fontAlgn="base" latinLnBrk="1" hangingPunct="0">
        <a:spcBef>
          <a:spcPct val="0"/>
        </a:spcBef>
        <a:spcAft>
          <a:spcPct val="0"/>
        </a:spcAft>
        <a:defRPr sz="4900">
          <a:solidFill>
            <a:schemeClr val="tx1"/>
          </a:solidFill>
          <a:latin typeface="맑은 고딕" pitchFamily="50" charset="-127"/>
        </a:defRPr>
      </a:lvl5pPr>
      <a:lvl6pPr marL="457200" algn="ctr" defTabSz="1014413" rtl="0" fontAlgn="base" latinLnBrk="1">
        <a:spcBef>
          <a:spcPct val="0"/>
        </a:spcBef>
        <a:spcAft>
          <a:spcPct val="0"/>
        </a:spcAft>
        <a:defRPr sz="4900">
          <a:solidFill>
            <a:schemeClr val="tx1"/>
          </a:solidFill>
          <a:latin typeface="맑은 고딕" pitchFamily="50" charset="-127"/>
        </a:defRPr>
      </a:lvl6pPr>
      <a:lvl7pPr marL="914400" algn="ctr" defTabSz="1014413" rtl="0" fontAlgn="base" latinLnBrk="1">
        <a:spcBef>
          <a:spcPct val="0"/>
        </a:spcBef>
        <a:spcAft>
          <a:spcPct val="0"/>
        </a:spcAft>
        <a:defRPr sz="4900">
          <a:solidFill>
            <a:schemeClr val="tx1"/>
          </a:solidFill>
          <a:latin typeface="맑은 고딕" pitchFamily="50" charset="-127"/>
        </a:defRPr>
      </a:lvl7pPr>
      <a:lvl8pPr marL="1371600" algn="ctr" defTabSz="1014413" rtl="0" fontAlgn="base" latinLnBrk="1">
        <a:spcBef>
          <a:spcPct val="0"/>
        </a:spcBef>
        <a:spcAft>
          <a:spcPct val="0"/>
        </a:spcAft>
        <a:defRPr sz="4900">
          <a:solidFill>
            <a:schemeClr val="tx1"/>
          </a:solidFill>
          <a:latin typeface="맑은 고딕" pitchFamily="50" charset="-127"/>
        </a:defRPr>
      </a:lvl8pPr>
      <a:lvl9pPr marL="1828800" algn="ctr" defTabSz="1014413" rtl="0" fontAlgn="base" latinLnBrk="1">
        <a:spcBef>
          <a:spcPct val="0"/>
        </a:spcBef>
        <a:spcAft>
          <a:spcPct val="0"/>
        </a:spcAft>
        <a:defRPr sz="4900">
          <a:solidFill>
            <a:schemeClr val="tx1"/>
          </a:solidFill>
          <a:latin typeface="맑은 고딕" pitchFamily="50" charset="-127"/>
        </a:defRPr>
      </a:lvl9pPr>
    </p:titleStyle>
    <p:bodyStyle>
      <a:lvl1pPr marL="379413" indent="-379413" algn="l" defTabSz="1014413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823913" indent="-315913" algn="l" defTabSz="1014413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3100" kern="1200">
          <a:solidFill>
            <a:schemeClr val="tx1"/>
          </a:solidFill>
          <a:latin typeface="+mn-lt"/>
          <a:ea typeface="+mn-ea"/>
          <a:cs typeface="+mn-cs"/>
        </a:defRPr>
      </a:lvl2pPr>
      <a:lvl3pPr marL="1268413" indent="-252413" algn="l" defTabSz="1014413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1776413" indent="-252413" algn="l" defTabSz="1014413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282825" indent="-252413" algn="l" defTabSz="1014413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791782" indent="-253799" algn="l" defTabSz="1015193" rtl="0" eaLnBrk="1" latinLnBrk="1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299380" indent="-253799" algn="l" defTabSz="1015193" rtl="0" eaLnBrk="1" latinLnBrk="1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806976" indent="-253799" algn="l" defTabSz="1015193" rtl="0" eaLnBrk="1" latinLnBrk="1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314573" indent="-253799" algn="l" defTabSz="1015193" rtl="0" eaLnBrk="1" latinLnBrk="1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015193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7597" algn="l" defTabSz="1015193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5193" algn="l" defTabSz="1015193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2790" algn="l" defTabSz="1015193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0388" algn="l" defTabSz="1015193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37984" algn="l" defTabSz="1015193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45581" algn="l" defTabSz="1015193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53178" algn="l" defTabSz="1015193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60773" algn="l" defTabSz="1015193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jpeg"/><Relationship Id="rId5" Type="http://schemas.openxmlformats.org/officeDocument/2006/relationships/image" Target="../media/image4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6.jpeg"/><Relationship Id="rId5" Type="http://schemas.openxmlformats.org/officeDocument/2006/relationships/image" Target="../media/image7.jpeg"/><Relationship Id="rId6" Type="http://schemas.openxmlformats.org/officeDocument/2006/relationships/image" Target="../media/image8.png"/><Relationship Id="rId7" Type="http://schemas.openxmlformats.org/officeDocument/2006/relationships/image" Target="../media/image9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jpeg"/><Relationship Id="rId7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15.jpeg"/><Relationship Id="rId4" Type="http://schemas.openxmlformats.org/officeDocument/2006/relationships/image" Target="../media/image16.jpeg"/><Relationship Id="rId5" Type="http://schemas.openxmlformats.org/officeDocument/2006/relationships/image" Target="../media/image17.jpeg"/><Relationship Id="rId6" Type="http://schemas.openxmlformats.org/officeDocument/2006/relationships/image" Target="../media/image18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19.jpe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26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27.jpeg"/><Relationship Id="rId4" Type="http://schemas.openxmlformats.org/officeDocument/2006/relationships/image" Target="../media/image28.jpe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2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4B90B2F4-441D-2906-0860-9C55FE73549F}"/>
              </a:ext>
            </a:extLst>
          </p:cNvPr>
          <p:cNvGrpSpPr/>
          <p:nvPr/>
        </p:nvGrpSpPr>
        <p:grpSpPr>
          <a:xfrm>
            <a:off x="466725" y="496044"/>
            <a:ext cx="9155649" cy="255814"/>
            <a:chOff x="466725" y="496044"/>
            <a:chExt cx="9155649" cy="255814"/>
          </a:xfrm>
        </p:grpSpPr>
        <p:pic>
          <p:nvPicPr>
            <p:cNvPr id="25602" name="Picture 2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466725" y="496044"/>
              <a:ext cx="1855788" cy="2555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3" name="Rectangle 4"/>
            <p:cNvSpPr>
              <a:spLocks noChangeArrowheads="1"/>
            </p:cNvSpPr>
            <p:nvPr/>
          </p:nvSpPr>
          <p:spPr bwMode="auto">
            <a:xfrm flipV="1">
              <a:off x="2338933" y="706139"/>
              <a:ext cx="7283441" cy="45719"/>
            </a:xfrm>
            <a:prstGeom prst="rect">
              <a:avLst/>
            </a:prstGeom>
            <a:solidFill>
              <a:srgbClr val="2931CD"/>
            </a:solidFill>
            <a:ln w="381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5DEF6A7A-CF47-2AEC-D40C-9A554A1C2964}"/>
              </a:ext>
            </a:extLst>
          </p:cNvPr>
          <p:cNvGrpSpPr/>
          <p:nvPr/>
        </p:nvGrpSpPr>
        <p:grpSpPr>
          <a:xfrm>
            <a:off x="438735" y="6910686"/>
            <a:ext cx="9263082" cy="430887"/>
            <a:chOff x="276651" y="5944009"/>
            <a:chExt cx="9263082" cy="430887"/>
          </a:xfrm>
        </p:grpSpPr>
        <p:pic>
          <p:nvPicPr>
            <p:cNvPr id="6153" name="그림 15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7114721" y="5961200"/>
              <a:ext cx="408788" cy="36000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pSp>
          <p:nvGrpSpPr>
            <p:cNvPr id="6154" name="그룹 10"/>
            <p:cNvGrpSpPr>
              <a:grpSpLocks/>
            </p:cNvGrpSpPr>
            <p:nvPr/>
          </p:nvGrpSpPr>
          <p:grpSpPr bwMode="auto">
            <a:xfrm>
              <a:off x="276651" y="6184676"/>
              <a:ext cx="6649612" cy="136525"/>
              <a:chOff x="322263" y="7051675"/>
              <a:chExt cx="6481762" cy="136525"/>
            </a:xfrm>
          </p:grpSpPr>
          <p:sp>
            <p:nvSpPr>
              <p:cNvPr id="15" name="Rectangle 4"/>
              <p:cNvSpPr>
                <a:spLocks noChangeArrowheads="1"/>
              </p:cNvSpPr>
              <p:nvPr/>
            </p:nvSpPr>
            <p:spPr bwMode="auto">
              <a:xfrm>
                <a:off x="322263" y="7051675"/>
                <a:ext cx="6482176" cy="17462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 w="381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ko-KR" altLang="en-US" dirty="0">
                  <a:latin typeface="Arial" pitchFamily="34" charset="0"/>
                  <a:ea typeface="굴림" pitchFamily="50" charset="-127"/>
                </a:endParaRPr>
              </a:p>
            </p:txBody>
          </p:sp>
          <p:sp>
            <p:nvSpPr>
              <p:cNvPr id="16" name="Rectangle 4"/>
              <p:cNvSpPr>
                <a:spLocks noChangeArrowheads="1"/>
              </p:cNvSpPr>
              <p:nvPr/>
            </p:nvSpPr>
            <p:spPr bwMode="auto">
              <a:xfrm>
                <a:off x="322263" y="7099300"/>
                <a:ext cx="6482176" cy="34925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381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ko-KR" altLang="en-US" dirty="0">
                  <a:latin typeface="Arial" pitchFamily="34" charset="0"/>
                  <a:ea typeface="굴림" pitchFamily="50" charset="-127"/>
                </a:endParaRPr>
              </a:p>
            </p:txBody>
          </p:sp>
          <p:sp>
            <p:nvSpPr>
              <p:cNvPr id="6157" name="Rectangle 4"/>
              <p:cNvSpPr>
                <a:spLocks noChangeArrowheads="1"/>
              </p:cNvSpPr>
              <p:nvPr/>
            </p:nvSpPr>
            <p:spPr bwMode="auto">
              <a:xfrm>
                <a:off x="322263" y="7169150"/>
                <a:ext cx="6481762" cy="19050"/>
              </a:xfrm>
              <a:prstGeom prst="rect">
                <a:avLst/>
              </a:prstGeom>
              <a:solidFill>
                <a:srgbClr val="2931CD"/>
              </a:solidFill>
              <a:ln w="381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4A685F42-077E-1A4F-709A-6D578F4FF11A}"/>
                </a:ext>
              </a:extLst>
            </p:cNvPr>
            <p:cNvSpPr txBox="1"/>
            <p:nvPr/>
          </p:nvSpPr>
          <p:spPr>
            <a:xfrm>
              <a:off x="7515796" y="5944009"/>
              <a:ext cx="2023937" cy="430887"/>
            </a:xfrm>
            <a:prstGeom prst="rect">
              <a:avLst/>
            </a:prstGeom>
            <a:noFill/>
          </p:spPr>
          <p:txBody>
            <a:bodyPr wrap="square" rtlCol="0" lIns="50800" rIns="50800" tIns="25400" bIns="25400">
              <a:spAutoFit/>
            </a:bodyPr>
            <a:lstStyle/>
            <a:p>
              <a:pPr algn="ctr"/>
              <a:r>
                <a:rPr sz="1800" b="1"/>
                <a:t>ROK SHIPPING CO., LTD.</a:t>
              </a:r>
            </a:p>
            <a:p>
              <a:pPr algn="ctr"/>
              <a:r>
                <a:rPr sz="1800" b="1"/>
                <a:t>알 오 케 이 쉬 핑</a:t>
              </a:r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68861A2F-56F0-1EB4-5191-7537D895CB43}"/>
              </a:ext>
            </a:extLst>
          </p:cNvPr>
          <p:cNvGrpSpPr/>
          <p:nvPr/>
        </p:nvGrpSpPr>
        <p:grpSpPr>
          <a:xfrm>
            <a:off x="3277640" y="3086926"/>
            <a:ext cx="3595194" cy="1729134"/>
            <a:chOff x="3755315" y="2412518"/>
            <a:chExt cx="3595194" cy="1729134"/>
          </a:xfrm>
        </p:grpSpPr>
        <p:pic>
          <p:nvPicPr>
            <p:cNvPr id="5" name="그림 15">
              <a:extLst>
                <a:ext uri="{FF2B5EF4-FFF2-40B4-BE49-F238E27FC236}">
                  <a16:creationId xmlns:a16="http://schemas.microsoft.com/office/drawing/2014/main" id="{17274188-15BA-EBDE-B4BC-2EBFBEB43ED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4571180" y="2412518"/>
              <a:ext cx="1963465" cy="17291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2CD2255-CD53-FEA5-2A7F-E4F90313CFBF}"/>
                </a:ext>
              </a:extLst>
            </p:cNvPr>
            <p:cNvSpPr txBox="1"/>
            <p:nvPr/>
          </p:nvSpPr>
          <p:spPr>
            <a:xfrm>
              <a:off x="3755315" y="2984809"/>
              <a:ext cx="3595194" cy="646331"/>
            </a:xfrm>
            <a:prstGeom prst="rect">
              <a:avLst/>
            </a:prstGeom>
            <a:noFill/>
          </p:spPr>
          <p:txBody>
            <a:bodyPr wrap="square" rtlCol="0" lIns="50800" rIns="50800" tIns="25400" bIns="25400">
              <a:spAutoFit/>
            </a:bodyPr>
            <a:lstStyle/>
            <a:p>
              <a:pPr algn="ctr"/>
              <a:r>
                <a:rPr sz="1200"/>
                <a:t>Specialized Logistics for Critical Cargo</a:t>
              </a:r>
            </a:p>
            <a:p>
              <a:pPr algn="ctr"/>
              <a:r>
                <a:rPr sz="1200"/>
                <a:t>Warranty Parts · Urgent Air Freight · Pharmaceuticals · Precision Machinery</a:t>
              </a:r>
            </a:p>
          </p:txBody>
        </p:sp>
      </p:grpSp>
    </p:spTree>
  </p:cSld>
  <p:clrMapOvr>
    <a:masterClrMapping/>
  </p:clrMapOvr>
  <p:transition>
    <p:dissolv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1BA0325A-222B-1DA9-232C-0B779E880795}"/>
              </a:ext>
            </a:extLst>
          </p:cNvPr>
          <p:cNvGrpSpPr/>
          <p:nvPr/>
        </p:nvGrpSpPr>
        <p:grpSpPr>
          <a:xfrm>
            <a:off x="438735" y="6910686"/>
            <a:ext cx="9263082" cy="430887"/>
            <a:chOff x="276651" y="5944009"/>
            <a:chExt cx="9263082" cy="430887"/>
          </a:xfrm>
        </p:grpSpPr>
        <p:pic>
          <p:nvPicPr>
            <p:cNvPr id="5" name="그림 15">
              <a:extLst>
                <a:ext uri="{FF2B5EF4-FFF2-40B4-BE49-F238E27FC236}">
                  <a16:creationId xmlns:a16="http://schemas.microsoft.com/office/drawing/2014/main" id="{4ECF4FDF-A9E2-25D3-F92A-4FCDAD8A39C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7114721" y="5961200"/>
              <a:ext cx="408788" cy="36000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pSp>
          <p:nvGrpSpPr>
            <p:cNvPr id="6" name="그룹 10">
              <a:extLst>
                <a:ext uri="{FF2B5EF4-FFF2-40B4-BE49-F238E27FC236}">
                  <a16:creationId xmlns:a16="http://schemas.microsoft.com/office/drawing/2014/main" id="{7840BAB8-ADBE-3E31-2E9D-9E8A3E6CD68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6651" y="6184676"/>
              <a:ext cx="6649612" cy="136525"/>
              <a:chOff x="322263" y="7051675"/>
              <a:chExt cx="6481762" cy="136525"/>
            </a:xfrm>
          </p:grpSpPr>
          <p:sp>
            <p:nvSpPr>
              <p:cNvPr id="8" name="Rectangle 4">
                <a:extLst>
                  <a:ext uri="{FF2B5EF4-FFF2-40B4-BE49-F238E27FC236}">
                    <a16:creationId xmlns:a16="http://schemas.microsoft.com/office/drawing/2014/main" id="{621F50EF-A8A3-0384-2B29-6998DEF275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2263" y="7051675"/>
                <a:ext cx="6482176" cy="17462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 w="381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ko-KR" altLang="en-US" dirty="0">
                  <a:latin typeface="Arial" pitchFamily="34" charset="0"/>
                  <a:ea typeface="굴림" pitchFamily="50" charset="-127"/>
                </a:endParaRPr>
              </a:p>
            </p:txBody>
          </p:sp>
          <p:sp>
            <p:nvSpPr>
              <p:cNvPr id="9" name="Rectangle 4">
                <a:extLst>
                  <a:ext uri="{FF2B5EF4-FFF2-40B4-BE49-F238E27FC236}">
                    <a16:creationId xmlns:a16="http://schemas.microsoft.com/office/drawing/2014/main" id="{B6C26E85-5C85-92F6-730B-A0F5386A99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2263" y="7099300"/>
                <a:ext cx="6482176" cy="34925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381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ko-KR" altLang="en-US" dirty="0">
                  <a:latin typeface="Arial" pitchFamily="34" charset="0"/>
                  <a:ea typeface="굴림" pitchFamily="50" charset="-127"/>
                </a:endParaRPr>
              </a:p>
            </p:txBody>
          </p:sp>
          <p:sp>
            <p:nvSpPr>
              <p:cNvPr id="10" name="Rectangle 4">
                <a:extLst>
                  <a:ext uri="{FF2B5EF4-FFF2-40B4-BE49-F238E27FC236}">
                    <a16:creationId xmlns:a16="http://schemas.microsoft.com/office/drawing/2014/main" id="{85082CB1-A09D-05EA-BAC6-F5DF8B0A84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2263" y="7169150"/>
                <a:ext cx="6481762" cy="19050"/>
              </a:xfrm>
              <a:prstGeom prst="rect">
                <a:avLst/>
              </a:prstGeom>
              <a:solidFill>
                <a:srgbClr val="2931CD"/>
              </a:solidFill>
              <a:ln w="381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EA90390-AB41-FDC9-ED3D-BE842DAE4220}"/>
                </a:ext>
              </a:extLst>
            </p:cNvPr>
            <p:cNvSpPr txBox="1"/>
            <p:nvPr/>
          </p:nvSpPr>
          <p:spPr>
            <a:xfrm>
              <a:off x="7515796" y="5944009"/>
              <a:ext cx="2023937" cy="430887"/>
            </a:xfrm>
            <a:prstGeom prst="rect">
              <a:avLst/>
            </a:prstGeom>
            <a:noFill/>
          </p:spPr>
          <p:txBody>
            <a:bodyPr wrap="square" rtlCol="0" lIns="50800" rIns="50800" tIns="25400" bIns="25400">
              <a:spAutoFit/>
            </a:bodyPr>
            <a:lstStyle/>
            <a:p>
              <a:pPr algn="ctr"/>
              <a:r>
                <a:rPr sz="1100" b="0"/>
                <a:t>ROK SHIPPING CO., LTD.</a:t>
              </a:r>
            </a:p>
            <a:p>
              <a:pPr algn="ctr"/>
              <a:r>
                <a:rPr sz="1100" b="0"/>
                <a:t>알 오 케 이 쉬 핑</a:t>
              </a: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4EE29CAA-0954-2EB2-5AD3-6D5833B0039F}"/>
              </a:ext>
            </a:extLst>
          </p:cNvPr>
          <p:cNvSpPr txBox="1"/>
          <p:nvPr/>
        </p:nvSpPr>
        <p:spPr>
          <a:xfrm>
            <a:off x="763516" y="1167789"/>
            <a:ext cx="5256584" cy="5632311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eaLnBrk="1" hangingPunct="1" algn="l"/>
            <a:r>
              <a:rPr sz="1500"/>
              <a:t>ROK SHIPPING CO., LTD. is a sister company of NeoKorTrans Co., Ltd., established to provide specialized logistics services for time-critical, high-value, and sensitive cargo.</a:t>
            </a:r>
          </a:p>
          <a:p>
            <a:pPr algn="l"/>
            <a:r>
              <a:rPr sz="1500"/>
              <a:t/>
            </a:r>
          </a:p>
          <a:p>
            <a:pPr algn="l"/>
            <a:r>
              <a:rPr sz="1500"/>
              <a:t>While NeoKorTrans focuses on large-scale plant and project logistics, including oversized and heavy cargo, ROK SHIPPING supports such projects with warranty cargo, urgent replacement parts, repair and return shipments, and emergency air freight.</a:t>
            </a:r>
          </a:p>
          <a:p>
            <a:pPr algn="l"/>
            <a:r>
              <a:rPr sz="1500"/>
              <a:t/>
            </a:r>
          </a:p>
          <a:p>
            <a:pPr algn="l"/>
            <a:r>
              <a:rPr sz="1500"/>
              <a:t>Our core expertise also includes pharmaceutical products, medical-related cargo, precision machinery, high-value equipment, and other sensitive cargo requiring careful handling and close operational control.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4565921-DDD6-9162-1073-D0FB648DD4C0}"/>
              </a:ext>
            </a:extLst>
          </p:cNvPr>
          <p:cNvSpPr txBox="1"/>
          <p:nvPr/>
        </p:nvSpPr>
        <p:spPr>
          <a:xfrm>
            <a:off x="682749" y="640060"/>
            <a:ext cx="5256584" cy="461665"/>
          </a:xfrm>
          <a:prstGeom prst="rect">
            <a:avLst/>
          </a:prstGeom>
          <a:noFill/>
        </p:spPr>
        <p:txBody>
          <a:bodyPr wrap="square" rtlCol="0" lIns="50800" rIns="50800" tIns="25400" bIns="25400">
            <a:spAutoFit/>
          </a:bodyPr>
          <a:lstStyle/>
          <a:p>
            <a:pPr algn="l"/>
            <a:r>
              <a:rPr sz="2400" b="1"/>
              <a:t>Introduction</a:t>
            </a:r>
            <a:endParaRPr lang="ko-KR" altLang="en-US" b="1" dirty="0"/>
          </a:p>
        </p:txBody>
      </p:sp>
      <p:pic>
        <p:nvPicPr>
          <p:cNvPr id="19" name="그림 18" descr="비행기, 스틸, 파이프, 공학이(가) 표시된 사진&#10;&#10;자동 생성된 설명">
            <a:extLst>
              <a:ext uri="{FF2B5EF4-FFF2-40B4-BE49-F238E27FC236}">
                <a16:creationId xmlns:a16="http://schemas.microsoft.com/office/drawing/2014/main" id="{E63942C2-D0A7-059F-FD91-3EE424F8D90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9413" y="1339313"/>
            <a:ext cx="3265802" cy="2449351"/>
          </a:xfrm>
          <a:prstGeom prst="rect">
            <a:avLst/>
          </a:prstGeom>
        </p:spPr>
      </p:pic>
      <p:pic>
        <p:nvPicPr>
          <p:cNvPr id="21" name="그림 20" descr="보트, 배, 야외, 물이(가) 표시된 사진&#10;&#10;자동 생성된 설명">
            <a:extLst>
              <a:ext uri="{FF2B5EF4-FFF2-40B4-BE49-F238E27FC236}">
                <a16:creationId xmlns:a16="http://schemas.microsoft.com/office/drawing/2014/main" id="{63D6E1BF-4A18-1D27-765D-34633C312FB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2591" y="4294012"/>
            <a:ext cx="3292624" cy="2469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3701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817558F2-15FB-7B1F-F85C-3BD5AB07AC45}"/>
              </a:ext>
            </a:extLst>
          </p:cNvPr>
          <p:cNvGrpSpPr/>
          <p:nvPr/>
        </p:nvGrpSpPr>
        <p:grpSpPr>
          <a:xfrm>
            <a:off x="438735" y="6910686"/>
            <a:ext cx="9263082" cy="430887"/>
            <a:chOff x="276651" y="5944009"/>
            <a:chExt cx="9263082" cy="430887"/>
          </a:xfrm>
        </p:grpSpPr>
        <p:pic>
          <p:nvPicPr>
            <p:cNvPr id="3" name="그림 15">
              <a:extLst>
                <a:ext uri="{FF2B5EF4-FFF2-40B4-BE49-F238E27FC236}">
                  <a16:creationId xmlns:a16="http://schemas.microsoft.com/office/drawing/2014/main" id="{9CF30E57-5056-136B-07A1-0D2768A09E4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7114721" y="5961200"/>
              <a:ext cx="408788" cy="36000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pSp>
          <p:nvGrpSpPr>
            <p:cNvPr id="4" name="그룹 10">
              <a:extLst>
                <a:ext uri="{FF2B5EF4-FFF2-40B4-BE49-F238E27FC236}">
                  <a16:creationId xmlns:a16="http://schemas.microsoft.com/office/drawing/2014/main" id="{EBC7AFD3-8BE0-F8AE-8D19-1D0FC4F8A82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6651" y="6184676"/>
              <a:ext cx="6649612" cy="136525"/>
              <a:chOff x="322263" y="7051675"/>
              <a:chExt cx="6481762" cy="136525"/>
            </a:xfrm>
          </p:grpSpPr>
          <p:sp>
            <p:nvSpPr>
              <p:cNvPr id="6" name="Rectangle 4">
                <a:extLst>
                  <a:ext uri="{FF2B5EF4-FFF2-40B4-BE49-F238E27FC236}">
                    <a16:creationId xmlns:a16="http://schemas.microsoft.com/office/drawing/2014/main" id="{161242F5-9413-F493-D03E-419891590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2263" y="7051675"/>
                <a:ext cx="6482176" cy="17462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 w="381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ko-KR" altLang="en-US" dirty="0">
                  <a:latin typeface="Arial" pitchFamily="34" charset="0"/>
                  <a:ea typeface="굴림" pitchFamily="50" charset="-127"/>
                </a:endParaRPr>
              </a:p>
            </p:txBody>
          </p:sp>
          <p:sp>
            <p:nvSpPr>
              <p:cNvPr id="7" name="Rectangle 4">
                <a:extLst>
                  <a:ext uri="{FF2B5EF4-FFF2-40B4-BE49-F238E27FC236}">
                    <a16:creationId xmlns:a16="http://schemas.microsoft.com/office/drawing/2014/main" id="{D899F9CB-6814-F24F-72BB-D30D35F249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2263" y="7099300"/>
                <a:ext cx="6482176" cy="34925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381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ko-KR" altLang="en-US" dirty="0">
                  <a:latin typeface="Arial" pitchFamily="34" charset="0"/>
                  <a:ea typeface="굴림" pitchFamily="50" charset="-127"/>
                </a:endParaRPr>
              </a:p>
            </p:txBody>
          </p:sp>
          <p:sp>
            <p:nvSpPr>
              <p:cNvPr id="8" name="Rectangle 4">
                <a:extLst>
                  <a:ext uri="{FF2B5EF4-FFF2-40B4-BE49-F238E27FC236}">
                    <a16:creationId xmlns:a16="http://schemas.microsoft.com/office/drawing/2014/main" id="{6A179AC0-AFC1-1F7D-F86B-2A6064F494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2263" y="7169150"/>
                <a:ext cx="6481762" cy="19050"/>
              </a:xfrm>
              <a:prstGeom prst="rect">
                <a:avLst/>
              </a:prstGeom>
              <a:solidFill>
                <a:srgbClr val="2931CD"/>
              </a:solidFill>
              <a:ln w="381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B2C003C-8414-4381-6CED-5452163B3B4F}"/>
                </a:ext>
              </a:extLst>
            </p:cNvPr>
            <p:cNvSpPr txBox="1"/>
            <p:nvPr/>
          </p:nvSpPr>
          <p:spPr>
            <a:xfrm>
              <a:off x="7515796" y="5944009"/>
              <a:ext cx="2023937" cy="430887"/>
            </a:xfrm>
            <a:prstGeom prst="rect">
              <a:avLst/>
            </a:prstGeom>
            <a:noFill/>
          </p:spPr>
          <p:txBody>
            <a:bodyPr wrap="square" rtlCol="0" lIns="50800" rIns="50800" tIns="25400" bIns="25400">
              <a:spAutoFit/>
            </a:bodyPr>
            <a:lstStyle/>
            <a:p>
              <a:pPr algn="ctr"/>
              <a:r>
                <a:rPr sz="1100" b="0"/>
                <a:t>ROK SHIPPING CO., LTD.</a:t>
              </a:r>
            </a:p>
            <a:p>
              <a:pPr algn="ctr"/>
              <a:r>
                <a:rPr sz="1100" b="0"/>
                <a:t>알 오 케 이 쉬 핑</a:t>
              </a:r>
            </a:p>
          </p:txBody>
        </p:sp>
      </p:grpSp>
      <p:sp>
        <p:nvSpPr>
          <p:cNvPr id="9" name="직사각형 2">
            <a:extLst>
              <a:ext uri="{FF2B5EF4-FFF2-40B4-BE49-F238E27FC236}">
                <a16:creationId xmlns:a16="http://schemas.microsoft.com/office/drawing/2014/main" id="{F68D575D-A8FA-2FC0-E135-E38E7F2F3E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271" y="618597"/>
            <a:ext cx="550503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2000" b="1"/>
              <a:t>Project Logistics Heritage from NeoKorTrans</a:t>
            </a:r>
            <a:endParaRPr lang="ko-KR" altLang="ko-KR" dirty="0"/>
          </a:p>
        </p:txBody>
      </p:sp>
      <p:sp>
        <p:nvSpPr>
          <p:cNvPr id="10" name="직사각형 4">
            <a:extLst>
              <a:ext uri="{FF2B5EF4-FFF2-40B4-BE49-F238E27FC236}">
                <a16:creationId xmlns:a16="http://schemas.microsoft.com/office/drawing/2014/main" id="{E8534CDA-204F-0CE8-4273-DDA081139B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8735" y="1244600"/>
            <a:ext cx="9100998" cy="2246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500"/>
              <a:t>ROK SHIPPING is backed by the project logistics experience and global network of NeoKorTrans and its predecessor KorTrans.</a:t>
            </a:r>
          </a:p>
          <a:p>
            <a:pPr algn="l"/>
            <a:r>
              <a:rPr sz="1500"/>
              <a:t/>
            </a:r>
          </a:p>
          <a:p>
            <a:pPr algn="l"/>
            <a:r>
              <a:rPr sz="1500"/>
              <a:t>This heritage includes major plant and industrial projects for electric power stations, steel mill plants, petrochemical plants, and other heavy industries.</a:t>
            </a:r>
          </a:p>
          <a:p>
            <a:pPr algn="l"/>
            <a:r>
              <a:rPr sz="1500"/>
              <a:t/>
            </a:r>
          </a:p>
          <a:p>
            <a:pPr algn="l"/>
            <a:r>
              <a:rPr sz="1500"/>
              <a:t>Based on this foundation, ROK SHIPPING focuses on critical supporting logistics where speed, safety, documentation, and precise communication are essential.</a:t>
            </a:r>
          </a:p>
        </p:txBody>
      </p:sp>
      <p:pic>
        <p:nvPicPr>
          <p:cNvPr id="11" name="그림 5">
            <a:extLst>
              <a:ext uri="{FF2B5EF4-FFF2-40B4-BE49-F238E27FC236}">
                <a16:creationId xmlns:a16="http://schemas.microsoft.com/office/drawing/2014/main" id="{8DB1041A-C80B-20F1-ED99-44CD303180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9663" y="4044205"/>
            <a:ext cx="2624137" cy="307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2" descr="D:\플랜트사업본부\직원자료\심규완\사진\3 고로 - Blower Plant 설치현황 전경.jpg">
            <a:extLst>
              <a:ext uri="{FF2B5EF4-FFF2-40B4-BE49-F238E27FC236}">
                <a16:creationId xmlns:a16="http://schemas.microsoft.com/office/drawing/2014/main" id="{AB577966-9167-1670-55B4-6039794C90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2373" y="5007182"/>
            <a:ext cx="3290888" cy="1873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2" descr="D:\플랜트사업본부\직원자료\심규완\사진\6 발전 - Steam Turbine Building 설치현황 전경.jpg">
            <a:extLst>
              <a:ext uri="{FF2B5EF4-FFF2-40B4-BE49-F238E27FC236}">
                <a16:creationId xmlns:a16="http://schemas.microsoft.com/office/drawing/2014/main" id="{1EE7E1BF-C50E-4243-6B5D-DCBDE27528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7273" y="3678491"/>
            <a:ext cx="2336800" cy="131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그림 21">
            <a:extLst>
              <a:ext uri="{FF2B5EF4-FFF2-40B4-BE49-F238E27FC236}">
                <a16:creationId xmlns:a16="http://schemas.microsoft.com/office/drawing/2014/main" id="{EE1417F0-4F03-C259-A620-63C1F1C814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5450" y="3550492"/>
            <a:ext cx="1971675" cy="147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그림 22">
            <a:extLst>
              <a:ext uri="{FF2B5EF4-FFF2-40B4-BE49-F238E27FC236}">
                <a16:creationId xmlns:a16="http://schemas.microsoft.com/office/drawing/2014/main" id="{F470147B-19B2-AD5A-233B-C7B9798386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988" y="5023692"/>
            <a:ext cx="2209800" cy="165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직사각형 17">
            <a:extLst>
              <a:ext uri="{FF2B5EF4-FFF2-40B4-BE49-F238E27FC236}">
                <a16:creationId xmlns:a16="http://schemas.microsoft.com/office/drawing/2014/main" id="{F733C7A7-4508-E0FB-56C4-DCFB0D99AB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5613" y="6688138"/>
            <a:ext cx="1763712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50800" rIns="50800" tIns="25400" bIns="25400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3100">
                <a:solidFill>
                  <a:schemeClr val="tx1"/>
                </a:solidFill>
                <a:latin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700">
                <a:solidFill>
                  <a:schemeClr val="tx1"/>
                </a:solidFill>
                <a:latin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200">
                <a:solidFill>
                  <a:schemeClr val="tx1"/>
                </a:solidFill>
                <a:latin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200">
                <a:solidFill>
                  <a:schemeClr val="tx1"/>
                </a:solidFill>
                <a:latin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200">
                <a:solidFill>
                  <a:schemeClr val="tx1"/>
                </a:solidFill>
                <a:latin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200">
                <a:solidFill>
                  <a:schemeClr val="tx1"/>
                </a:solidFill>
                <a:latin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200">
                <a:solidFill>
                  <a:schemeClr val="tx1"/>
                </a:solidFill>
                <a:latin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200">
                <a:solidFill>
                  <a:schemeClr val="tx1"/>
                </a:solidFill>
                <a:latin typeface="맑은 고딕" panose="020B0503020000020004" pitchFamily="50" charset="-127"/>
              </a:defRPr>
            </a:lvl9pPr>
          </a:lstStyle>
          <a:p>
            <a:pPr eaLnBrk="1" hangingPunct="1" algn="ctr">
              <a:spcBef>
                <a:spcPct val="0"/>
              </a:spcBef>
              <a:buFontTx/>
              <a:buNone/>
            </a:pPr>
            <a:r>
              <a:rPr sz="1200" b="1"/>
              <a:t>PLANT &amp; PROJECT LOGISTICS HERITAGE</a:t>
            </a:r>
            <a:endParaRPr lang="ko-KR" altLang="en-US" sz="10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4085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8837CF42-19CF-43CF-AA32-7C64658B94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0741" y="3016324"/>
            <a:ext cx="1440160" cy="857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B1FD26D-A52E-909F-E705-5D4CF8BA4F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376084" y="2368252"/>
            <a:ext cx="2307665" cy="14398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F2CABC2-E6F0-AC30-6EF5-AAB459B15B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448092" y="3808412"/>
            <a:ext cx="1978894" cy="9660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8F647A6-675A-45BE-1A56-5EF4071CE3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923109" y="1864196"/>
            <a:ext cx="3167437" cy="4118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2D495E1-8513-8AB5-850E-5C9F7A761C73}"/>
              </a:ext>
            </a:extLst>
          </p:cNvPr>
          <p:cNvSpPr txBox="1"/>
          <p:nvPr/>
        </p:nvSpPr>
        <p:spPr>
          <a:xfrm>
            <a:off x="2122909" y="3016324"/>
            <a:ext cx="1296144" cy="288032"/>
          </a:xfrm>
          <a:prstGeom prst="rect">
            <a:avLst/>
          </a:prstGeom>
          <a:noFill/>
          <a:ln>
            <a:solidFill>
              <a:srgbClr val="2931CD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Chile, </a:t>
            </a:r>
            <a:r>
              <a:rPr lang="en-US" altLang="ko-KR" sz="1200" dirty="0" err="1"/>
              <a:t>Angamos</a:t>
            </a:r>
            <a:endParaRPr lang="ko-KR" altLang="en-US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2DCA88-D464-2646-55AD-395CB9E6E625}"/>
              </a:ext>
            </a:extLst>
          </p:cNvPr>
          <p:cNvSpPr txBox="1"/>
          <p:nvPr/>
        </p:nvSpPr>
        <p:spPr>
          <a:xfrm>
            <a:off x="2119500" y="3592388"/>
            <a:ext cx="1296144" cy="288032"/>
          </a:xfrm>
          <a:prstGeom prst="rect">
            <a:avLst/>
          </a:prstGeom>
          <a:noFill/>
          <a:ln>
            <a:solidFill>
              <a:srgbClr val="2931CD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Chile, </a:t>
            </a:r>
            <a:r>
              <a:rPr lang="en-US" altLang="ko-KR" sz="1200" dirty="0" err="1"/>
              <a:t>Campiche</a:t>
            </a:r>
            <a:endParaRPr lang="ko-KR" altLang="en-US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356820-9F56-5B34-E833-DB7C8E064675}"/>
              </a:ext>
            </a:extLst>
          </p:cNvPr>
          <p:cNvSpPr txBox="1"/>
          <p:nvPr/>
        </p:nvSpPr>
        <p:spPr>
          <a:xfrm>
            <a:off x="2122909" y="4888532"/>
            <a:ext cx="1368152" cy="288032"/>
          </a:xfrm>
          <a:prstGeom prst="rect">
            <a:avLst/>
          </a:prstGeom>
          <a:noFill/>
          <a:ln>
            <a:solidFill>
              <a:srgbClr val="2931CD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Chile, </a:t>
            </a:r>
            <a:r>
              <a:rPr lang="en-US" altLang="ko-KR" sz="1200" dirty="0" err="1"/>
              <a:t>Ventanas</a:t>
            </a:r>
            <a:r>
              <a:rPr lang="en-US" altLang="ko-KR" sz="1200" dirty="0"/>
              <a:t> </a:t>
            </a:r>
            <a:endParaRPr lang="ko-KR" altLang="en-US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42ECBF-E6D4-7F97-DF5C-9545D85564B6}"/>
              </a:ext>
            </a:extLst>
          </p:cNvPr>
          <p:cNvSpPr txBox="1"/>
          <p:nvPr/>
        </p:nvSpPr>
        <p:spPr>
          <a:xfrm>
            <a:off x="7376084" y="2080220"/>
            <a:ext cx="1080120" cy="276999"/>
          </a:xfrm>
          <a:prstGeom prst="rect">
            <a:avLst/>
          </a:prstGeom>
          <a:noFill/>
          <a:ln>
            <a:solidFill>
              <a:srgbClr val="2931CD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Brazil, CSP</a:t>
            </a:r>
            <a:endParaRPr lang="ko-KR" altLang="en-US" sz="1200" dirty="0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D0482F20-1129-6D1D-6E14-EF4EEB2AD521}"/>
              </a:ext>
            </a:extLst>
          </p:cNvPr>
          <p:cNvCxnSpPr>
            <a:stCxn id="8" idx="3"/>
          </p:cNvCxnSpPr>
          <p:nvPr/>
        </p:nvCxnSpPr>
        <p:spPr>
          <a:xfrm flipV="1">
            <a:off x="3491061" y="4672508"/>
            <a:ext cx="1440160" cy="36004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4DCE64DC-7820-663D-255B-A7E5D511FFA4}"/>
              </a:ext>
            </a:extLst>
          </p:cNvPr>
          <p:cNvCxnSpPr>
            <a:stCxn id="7" idx="3"/>
          </p:cNvCxnSpPr>
          <p:nvPr/>
        </p:nvCxnSpPr>
        <p:spPr>
          <a:xfrm>
            <a:off x="3415644" y="3736404"/>
            <a:ext cx="1515577" cy="50405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6EA22BC1-6394-C8D5-8EBF-A128AFC78AF7}"/>
              </a:ext>
            </a:extLst>
          </p:cNvPr>
          <p:cNvCxnSpPr>
            <a:stCxn id="6" idx="3"/>
          </p:cNvCxnSpPr>
          <p:nvPr/>
        </p:nvCxnSpPr>
        <p:spPr>
          <a:xfrm>
            <a:off x="3419053" y="3160340"/>
            <a:ext cx="1512168" cy="108012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AF446881-1EA7-D21D-4748-B8384A5AB8A1}"/>
              </a:ext>
            </a:extLst>
          </p:cNvPr>
          <p:cNvCxnSpPr>
            <a:endCxn id="9" idx="1"/>
          </p:cNvCxnSpPr>
          <p:nvPr/>
        </p:nvCxnSpPr>
        <p:spPr>
          <a:xfrm flipV="1">
            <a:off x="6511988" y="2218720"/>
            <a:ext cx="864096" cy="79760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5" descr="D:\data\회사소개서\회사소개서작업_20091220\해상도높은사진\사이트20.JPG">
            <a:extLst>
              <a:ext uri="{FF2B5EF4-FFF2-40B4-BE49-F238E27FC236}">
                <a16:creationId xmlns:a16="http://schemas.microsoft.com/office/drawing/2014/main" id="{0BF4F6A5-DC17-E482-8005-5AA218E81F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82749" y="4888532"/>
            <a:ext cx="1402017" cy="864096"/>
          </a:xfrm>
          <a:prstGeom prst="rect">
            <a:avLst/>
          </a:prstGeom>
          <a:noFill/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6DBC1E2-BF84-45C4-5E2F-2D4B513C1298}"/>
              </a:ext>
            </a:extLst>
          </p:cNvPr>
          <p:cNvSpPr txBox="1"/>
          <p:nvPr/>
        </p:nvSpPr>
        <p:spPr>
          <a:xfrm>
            <a:off x="2122909" y="5464596"/>
            <a:ext cx="1368152" cy="288032"/>
          </a:xfrm>
          <a:prstGeom prst="rect">
            <a:avLst/>
          </a:prstGeom>
          <a:noFill/>
          <a:ln>
            <a:solidFill>
              <a:srgbClr val="2931CD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Chile, </a:t>
            </a:r>
            <a:r>
              <a:rPr lang="en-US" altLang="ko-KR" sz="1200" dirty="0" err="1"/>
              <a:t>Boccamia</a:t>
            </a:r>
            <a:r>
              <a:rPr lang="en-US" altLang="ko-KR" sz="1200" dirty="0"/>
              <a:t> </a:t>
            </a:r>
            <a:endParaRPr lang="ko-KR" altLang="en-US" sz="1200" dirty="0"/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C016C3D4-2F6C-C34E-9C07-8ADA501EB395}"/>
              </a:ext>
            </a:extLst>
          </p:cNvPr>
          <p:cNvCxnSpPr>
            <a:stCxn id="15" idx="3"/>
          </p:cNvCxnSpPr>
          <p:nvPr/>
        </p:nvCxnSpPr>
        <p:spPr>
          <a:xfrm flipV="1">
            <a:off x="3491061" y="4816524"/>
            <a:ext cx="1440160" cy="79208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EF5BD9E2-EFAC-4F13-953D-6F07992823E1}"/>
              </a:ext>
            </a:extLst>
          </p:cNvPr>
          <p:cNvGrpSpPr/>
          <p:nvPr/>
        </p:nvGrpSpPr>
        <p:grpSpPr>
          <a:xfrm>
            <a:off x="438735" y="6910686"/>
            <a:ext cx="9263082" cy="430887"/>
            <a:chOff x="276651" y="5944009"/>
            <a:chExt cx="9263082" cy="430887"/>
          </a:xfrm>
        </p:grpSpPr>
        <p:pic>
          <p:nvPicPr>
            <p:cNvPr id="18" name="그림 15">
              <a:extLst>
                <a:ext uri="{FF2B5EF4-FFF2-40B4-BE49-F238E27FC236}">
                  <a16:creationId xmlns:a16="http://schemas.microsoft.com/office/drawing/2014/main" id="{3EAA4421-A6EA-4DFC-B8F6-F57A4E8E5C4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7114721" y="5961200"/>
              <a:ext cx="408788" cy="36000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pSp>
          <p:nvGrpSpPr>
            <p:cNvPr id="19" name="그룹 10">
              <a:extLst>
                <a:ext uri="{FF2B5EF4-FFF2-40B4-BE49-F238E27FC236}">
                  <a16:creationId xmlns:a16="http://schemas.microsoft.com/office/drawing/2014/main" id="{4682376D-93AF-8CA0-681B-8003B7FC461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6651" y="6184676"/>
              <a:ext cx="6649612" cy="136525"/>
              <a:chOff x="322263" y="7051675"/>
              <a:chExt cx="6481762" cy="136525"/>
            </a:xfrm>
          </p:grpSpPr>
          <p:sp>
            <p:nvSpPr>
              <p:cNvPr id="21" name="Rectangle 4">
                <a:extLst>
                  <a:ext uri="{FF2B5EF4-FFF2-40B4-BE49-F238E27FC236}">
                    <a16:creationId xmlns:a16="http://schemas.microsoft.com/office/drawing/2014/main" id="{047F6DF4-F107-9121-4564-4854926031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2263" y="7051675"/>
                <a:ext cx="6482176" cy="17462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 w="381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ko-KR" altLang="en-US" dirty="0">
                  <a:latin typeface="Arial" pitchFamily="34" charset="0"/>
                  <a:ea typeface="굴림" pitchFamily="50" charset="-127"/>
                </a:endParaRPr>
              </a:p>
            </p:txBody>
          </p:sp>
          <p:sp>
            <p:nvSpPr>
              <p:cNvPr id="22" name="Rectangle 4">
                <a:extLst>
                  <a:ext uri="{FF2B5EF4-FFF2-40B4-BE49-F238E27FC236}">
                    <a16:creationId xmlns:a16="http://schemas.microsoft.com/office/drawing/2014/main" id="{02612EF4-2FFA-A816-6689-B28ECB29A0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2263" y="7099300"/>
                <a:ext cx="6482176" cy="34925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381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ko-KR" altLang="en-US" dirty="0">
                  <a:latin typeface="Arial" pitchFamily="34" charset="0"/>
                  <a:ea typeface="굴림" pitchFamily="50" charset="-127"/>
                </a:endParaRPr>
              </a:p>
            </p:txBody>
          </p:sp>
          <p:sp>
            <p:nvSpPr>
              <p:cNvPr id="23" name="Rectangle 4">
                <a:extLst>
                  <a:ext uri="{FF2B5EF4-FFF2-40B4-BE49-F238E27FC236}">
                    <a16:creationId xmlns:a16="http://schemas.microsoft.com/office/drawing/2014/main" id="{998FF70B-E567-A007-7309-C871D7BBC8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2263" y="7169150"/>
                <a:ext cx="6481762" cy="19050"/>
              </a:xfrm>
              <a:prstGeom prst="rect">
                <a:avLst/>
              </a:prstGeom>
              <a:solidFill>
                <a:srgbClr val="2931CD"/>
              </a:solidFill>
              <a:ln w="381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405947F-9968-B5AA-C3A9-5D2BCC60EAC0}"/>
                </a:ext>
              </a:extLst>
            </p:cNvPr>
            <p:cNvSpPr txBox="1"/>
            <p:nvPr/>
          </p:nvSpPr>
          <p:spPr>
            <a:xfrm>
              <a:off x="7515796" y="5944009"/>
              <a:ext cx="2023937" cy="430887"/>
            </a:xfrm>
            <a:prstGeom prst="rect">
              <a:avLst/>
            </a:prstGeom>
            <a:noFill/>
          </p:spPr>
          <p:txBody>
            <a:bodyPr wrap="square" rtlCol="0" lIns="50800" rIns="50800" tIns="25400" bIns="25400">
              <a:spAutoFit/>
            </a:bodyPr>
            <a:lstStyle/>
            <a:p>
              <a:pPr algn="ctr"/>
              <a:r>
                <a:rPr sz="1100" b="0"/>
                <a:t>ROK SHIPPING CO., LTD.</a:t>
              </a:r>
            </a:p>
            <a:p>
              <a:pPr algn="ctr"/>
              <a:r>
                <a:rPr sz="1100" b="0"/>
                <a:t>알 오 케 이 쉬 핑</a:t>
              </a: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54211921-8035-D86E-D52F-8A0B7297F694}"/>
              </a:ext>
            </a:extLst>
          </p:cNvPr>
          <p:cNvSpPr txBox="1"/>
          <p:nvPr/>
        </p:nvSpPr>
        <p:spPr>
          <a:xfrm>
            <a:off x="591757" y="697259"/>
            <a:ext cx="7341407" cy="461665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2200" b="1"/>
              <a:t>Project Reference Sites with NeoKorTrans Experience</a:t>
            </a:r>
            <a:endParaRPr lang="ko-KR" altLang="ko-KR" b="1" dirty="0"/>
          </a:p>
        </p:txBody>
      </p:sp>
    </p:spTree>
    <p:extLst>
      <p:ext uri="{BB962C8B-B14F-4D97-AF65-F5344CB8AC3E}">
        <p14:creationId xmlns:p14="http://schemas.microsoft.com/office/powerpoint/2010/main" val="21850151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DD95C425-0437-0FA4-0065-EAECD42BB953}"/>
              </a:ext>
            </a:extLst>
          </p:cNvPr>
          <p:cNvGrpSpPr/>
          <p:nvPr/>
        </p:nvGrpSpPr>
        <p:grpSpPr>
          <a:xfrm>
            <a:off x="438735" y="6910686"/>
            <a:ext cx="9263082" cy="430887"/>
            <a:chOff x="276651" y="5944009"/>
            <a:chExt cx="9263082" cy="430887"/>
          </a:xfrm>
        </p:grpSpPr>
        <p:pic>
          <p:nvPicPr>
            <p:cNvPr id="3" name="그림 15">
              <a:extLst>
                <a:ext uri="{FF2B5EF4-FFF2-40B4-BE49-F238E27FC236}">
                  <a16:creationId xmlns:a16="http://schemas.microsoft.com/office/drawing/2014/main" id="{C2938C33-957E-B002-798F-F37B42CB2AC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7114721" y="5961200"/>
              <a:ext cx="408788" cy="36000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pSp>
          <p:nvGrpSpPr>
            <p:cNvPr id="4" name="그룹 10">
              <a:extLst>
                <a:ext uri="{FF2B5EF4-FFF2-40B4-BE49-F238E27FC236}">
                  <a16:creationId xmlns:a16="http://schemas.microsoft.com/office/drawing/2014/main" id="{A854D5AA-3ED6-E4ED-BC86-88A9D489377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6651" y="6184676"/>
              <a:ext cx="6649612" cy="136525"/>
              <a:chOff x="322263" y="7051675"/>
              <a:chExt cx="6481762" cy="136525"/>
            </a:xfrm>
          </p:grpSpPr>
          <p:sp>
            <p:nvSpPr>
              <p:cNvPr id="6" name="Rectangle 4">
                <a:extLst>
                  <a:ext uri="{FF2B5EF4-FFF2-40B4-BE49-F238E27FC236}">
                    <a16:creationId xmlns:a16="http://schemas.microsoft.com/office/drawing/2014/main" id="{169200DD-2624-17D0-1DF8-85E022777D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2263" y="7051675"/>
                <a:ext cx="6482176" cy="17462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 w="381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ko-KR" altLang="en-US" dirty="0">
                  <a:latin typeface="Arial" pitchFamily="34" charset="0"/>
                  <a:ea typeface="굴림" pitchFamily="50" charset="-127"/>
                </a:endParaRPr>
              </a:p>
            </p:txBody>
          </p:sp>
          <p:sp>
            <p:nvSpPr>
              <p:cNvPr id="7" name="Rectangle 4">
                <a:extLst>
                  <a:ext uri="{FF2B5EF4-FFF2-40B4-BE49-F238E27FC236}">
                    <a16:creationId xmlns:a16="http://schemas.microsoft.com/office/drawing/2014/main" id="{5CCBF4AE-1663-3DD5-8CAB-700C90F035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2263" y="7099300"/>
                <a:ext cx="6482176" cy="34925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381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ko-KR" altLang="en-US" dirty="0">
                  <a:latin typeface="Arial" pitchFamily="34" charset="0"/>
                  <a:ea typeface="굴림" pitchFamily="50" charset="-127"/>
                </a:endParaRPr>
              </a:p>
            </p:txBody>
          </p:sp>
          <p:sp>
            <p:nvSpPr>
              <p:cNvPr id="8" name="Rectangle 4">
                <a:extLst>
                  <a:ext uri="{FF2B5EF4-FFF2-40B4-BE49-F238E27FC236}">
                    <a16:creationId xmlns:a16="http://schemas.microsoft.com/office/drawing/2014/main" id="{70761A10-1117-E7C9-44A2-A7AA0688BE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2263" y="7169150"/>
                <a:ext cx="6481762" cy="19050"/>
              </a:xfrm>
              <a:prstGeom prst="rect">
                <a:avLst/>
              </a:prstGeom>
              <a:solidFill>
                <a:srgbClr val="2931CD"/>
              </a:solidFill>
              <a:ln w="381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BBD358D-08F7-00ED-6761-04D0EA0D0132}"/>
                </a:ext>
              </a:extLst>
            </p:cNvPr>
            <p:cNvSpPr txBox="1"/>
            <p:nvPr/>
          </p:nvSpPr>
          <p:spPr>
            <a:xfrm>
              <a:off x="7515796" y="5944009"/>
              <a:ext cx="2023937" cy="430887"/>
            </a:xfrm>
            <a:prstGeom prst="rect">
              <a:avLst/>
            </a:prstGeom>
            <a:noFill/>
          </p:spPr>
          <p:txBody>
            <a:bodyPr wrap="square" rtlCol="0" lIns="50800" rIns="50800" tIns="25400" bIns="25400">
              <a:spAutoFit/>
            </a:bodyPr>
            <a:lstStyle/>
            <a:p>
              <a:pPr algn="ctr"/>
              <a:r>
                <a:rPr sz="1100" b="0"/>
                <a:t>ROK SHIPPING CO., LTD.</a:t>
              </a:r>
            </a:p>
            <a:p>
              <a:pPr algn="ctr"/>
              <a:r>
                <a:rPr sz="1100" b="0"/>
                <a:t>알 오 케 이 쉬 핑</a:t>
              </a:r>
            </a:p>
          </p:txBody>
        </p:sp>
      </p:grpSp>
      <p:pic>
        <p:nvPicPr>
          <p:cNvPr id="9" name="Picture 5" descr="F:\data\회사소개서\롯데건설\S5000781.JPG">
            <a:extLst>
              <a:ext uri="{FF2B5EF4-FFF2-40B4-BE49-F238E27FC236}">
                <a16:creationId xmlns:a16="http://schemas.microsoft.com/office/drawing/2014/main" id="{AF565064-2584-DEA7-EB8B-238DCE45D6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7013" y="4379913"/>
            <a:ext cx="3238500" cy="2465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직사각형 17">
            <a:extLst>
              <a:ext uri="{FF2B5EF4-FFF2-40B4-BE49-F238E27FC236}">
                <a16:creationId xmlns:a16="http://schemas.microsoft.com/office/drawing/2014/main" id="{0ED683A6-5CE0-1B05-B8B3-577168D9AC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3363" y="4022725"/>
            <a:ext cx="3419475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3100">
                <a:solidFill>
                  <a:schemeClr val="tx1"/>
                </a:solidFill>
                <a:latin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700">
                <a:solidFill>
                  <a:schemeClr val="tx1"/>
                </a:solidFill>
                <a:latin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200">
                <a:solidFill>
                  <a:schemeClr val="tx1"/>
                </a:solidFill>
                <a:latin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200">
                <a:solidFill>
                  <a:schemeClr val="tx1"/>
                </a:solidFill>
                <a:latin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200">
                <a:solidFill>
                  <a:schemeClr val="tx1"/>
                </a:solidFill>
                <a:latin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200">
                <a:solidFill>
                  <a:schemeClr val="tx1"/>
                </a:solidFill>
                <a:latin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200">
                <a:solidFill>
                  <a:schemeClr val="tx1"/>
                </a:solidFill>
                <a:latin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200">
                <a:solidFill>
                  <a:schemeClr val="tx1"/>
                </a:solidFill>
                <a:latin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000">
                <a:latin typeface="Arial" panose="020B0604020202020204" pitchFamily="34" charset="0"/>
              </a:rPr>
              <a:t>Angamos  I   240MW Ttransformer</a:t>
            </a:r>
            <a:endParaRPr lang="ko-KR" altLang="en-US" sz="1000">
              <a:latin typeface="Arial" panose="020B0604020202020204" pitchFamily="34" charset="0"/>
            </a:endParaRPr>
          </a:p>
        </p:txBody>
      </p:sp>
      <p:pic>
        <p:nvPicPr>
          <p:cNvPr id="11" name="Picture 24" descr="F:\data\회사소개서\롯데건설\PICT0589.JPG">
            <a:extLst>
              <a:ext uri="{FF2B5EF4-FFF2-40B4-BE49-F238E27FC236}">
                <a16:creationId xmlns:a16="http://schemas.microsoft.com/office/drawing/2014/main" id="{3C5AD90C-524C-8B67-984D-D3F54A591D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3363" y="1571625"/>
            <a:ext cx="3236912" cy="2463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직사각형 17">
            <a:extLst>
              <a:ext uri="{FF2B5EF4-FFF2-40B4-BE49-F238E27FC236}">
                <a16:creationId xmlns:a16="http://schemas.microsoft.com/office/drawing/2014/main" id="{B190B735-DDDF-DC4A-B9A3-019571B455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6738" y="4041775"/>
            <a:ext cx="3200400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3100">
                <a:solidFill>
                  <a:schemeClr val="tx1"/>
                </a:solidFill>
                <a:latin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700">
                <a:solidFill>
                  <a:schemeClr val="tx1"/>
                </a:solidFill>
                <a:latin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200">
                <a:solidFill>
                  <a:schemeClr val="tx1"/>
                </a:solidFill>
                <a:latin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200">
                <a:solidFill>
                  <a:schemeClr val="tx1"/>
                </a:solidFill>
                <a:latin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200">
                <a:solidFill>
                  <a:schemeClr val="tx1"/>
                </a:solidFill>
                <a:latin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200">
                <a:solidFill>
                  <a:schemeClr val="tx1"/>
                </a:solidFill>
                <a:latin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200">
                <a:solidFill>
                  <a:schemeClr val="tx1"/>
                </a:solidFill>
                <a:latin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200">
                <a:solidFill>
                  <a:schemeClr val="tx1"/>
                </a:solidFill>
                <a:latin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000">
                <a:latin typeface="Arial" panose="020B0604020202020204" pitchFamily="34" charset="0"/>
              </a:rPr>
              <a:t>Angamos II   240MW  Steam Drum</a:t>
            </a:r>
            <a:endParaRPr lang="ko-KR" altLang="en-US" sz="1000">
              <a:latin typeface="Arial" panose="020B0604020202020204" pitchFamily="34" charset="0"/>
            </a:endParaRPr>
          </a:p>
        </p:txBody>
      </p:sp>
      <p:pic>
        <p:nvPicPr>
          <p:cNvPr id="13" name="Picture 25" descr="F:\data\회사소개서\롯데건설\PICT0398.JPG">
            <a:extLst>
              <a:ext uri="{FF2B5EF4-FFF2-40B4-BE49-F238E27FC236}">
                <a16:creationId xmlns:a16="http://schemas.microsoft.com/office/drawing/2014/main" id="{B7E7F763-DCF1-6138-AED4-BF7A013486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8175" y="1595438"/>
            <a:ext cx="3224213" cy="2476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4" descr="F:\data\회사소개서\롯데건설\김주익 2143.jpg">
            <a:extLst>
              <a:ext uri="{FF2B5EF4-FFF2-40B4-BE49-F238E27FC236}">
                <a16:creationId xmlns:a16="http://schemas.microsoft.com/office/drawing/2014/main" id="{9A623855-2CDA-AA99-9B95-E8344EDB2C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0875" y="4406900"/>
            <a:ext cx="3192463" cy="2465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extBox 15">
            <a:extLst>
              <a:ext uri="{FF2B5EF4-FFF2-40B4-BE49-F238E27FC236}">
                <a16:creationId xmlns:a16="http://schemas.microsoft.com/office/drawing/2014/main" id="{2E8D6D4E-8D7B-2040-9203-7E7DCBA1FB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1275" y="1076325"/>
            <a:ext cx="3944938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50800" rIns="50800" tIns="25400" bIns="25400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3100">
                <a:solidFill>
                  <a:schemeClr val="tx1"/>
                </a:solidFill>
                <a:latin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700">
                <a:solidFill>
                  <a:schemeClr val="tx1"/>
                </a:solidFill>
                <a:latin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200">
                <a:solidFill>
                  <a:schemeClr val="tx1"/>
                </a:solidFill>
                <a:latin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200">
                <a:solidFill>
                  <a:schemeClr val="tx1"/>
                </a:solidFill>
                <a:latin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200">
                <a:solidFill>
                  <a:schemeClr val="tx1"/>
                </a:solidFill>
                <a:latin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200">
                <a:solidFill>
                  <a:schemeClr val="tx1"/>
                </a:solidFill>
                <a:latin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200">
                <a:solidFill>
                  <a:schemeClr val="tx1"/>
                </a:solidFill>
                <a:latin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200">
                <a:solidFill>
                  <a:schemeClr val="tx1"/>
                </a:solidFill>
                <a:latin typeface="맑은 고딕" panose="020B0503020000020004" pitchFamily="50" charset="-127"/>
              </a:defRPr>
            </a:lvl9pPr>
          </a:lstStyle>
          <a:p>
            <a:pPr eaLnBrk="1" hangingPunct="1" algn="ctr">
              <a:spcBef>
                <a:spcPct val="0"/>
              </a:spcBef>
              <a:buFontTx/>
              <a:buNone/>
            </a:pPr>
            <a:r>
              <a:rPr sz="1800" b="1"/>
              <a:t>&lt;&lt; POWER PLANT PROJECT EXPERIENCE &gt;&gt;</a:t>
            </a:r>
            <a:endParaRPr lang="ko-KR" altLang="en-US" sz="1600" b="1" dirty="0">
              <a:latin typeface="Arial" panose="020B0604020202020204" pitchFamily="34" charset="0"/>
            </a:endParaRPr>
          </a:p>
        </p:txBody>
      </p:sp>
      <p:sp>
        <p:nvSpPr>
          <p:cNvPr id="16" name="직사각형 17">
            <a:extLst>
              <a:ext uri="{FF2B5EF4-FFF2-40B4-BE49-F238E27FC236}">
                <a16:creationId xmlns:a16="http://schemas.microsoft.com/office/drawing/2014/main" id="{36254A7A-5E1B-8FF8-C841-689E2F81CE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8913" y="6880225"/>
            <a:ext cx="3044825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3100">
                <a:solidFill>
                  <a:schemeClr val="tx1"/>
                </a:solidFill>
                <a:latin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700">
                <a:solidFill>
                  <a:schemeClr val="tx1"/>
                </a:solidFill>
                <a:latin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200">
                <a:solidFill>
                  <a:schemeClr val="tx1"/>
                </a:solidFill>
                <a:latin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200">
                <a:solidFill>
                  <a:schemeClr val="tx1"/>
                </a:solidFill>
                <a:latin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200">
                <a:solidFill>
                  <a:schemeClr val="tx1"/>
                </a:solidFill>
                <a:latin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200">
                <a:solidFill>
                  <a:schemeClr val="tx1"/>
                </a:solidFill>
                <a:latin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200">
                <a:solidFill>
                  <a:schemeClr val="tx1"/>
                </a:solidFill>
                <a:latin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200">
                <a:solidFill>
                  <a:schemeClr val="tx1"/>
                </a:solidFill>
                <a:latin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000">
                <a:latin typeface="Arial" panose="020B0604020202020204" pitchFamily="34" charset="0"/>
              </a:rPr>
              <a:t>Ventanas 240MW  Steam Turbine </a:t>
            </a:r>
            <a:endParaRPr lang="ko-KR" altLang="en-US" sz="1000">
              <a:latin typeface="Arial" panose="020B0604020202020204" pitchFamily="34" charset="0"/>
            </a:endParaRPr>
          </a:p>
        </p:txBody>
      </p:sp>
      <p:sp>
        <p:nvSpPr>
          <p:cNvPr id="17" name="직사각형 17">
            <a:extLst>
              <a:ext uri="{FF2B5EF4-FFF2-40B4-BE49-F238E27FC236}">
                <a16:creationId xmlns:a16="http://schemas.microsoft.com/office/drawing/2014/main" id="{54D60741-6A80-8E57-8862-8223969780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07063" y="6880225"/>
            <a:ext cx="2797175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3100">
                <a:solidFill>
                  <a:schemeClr val="tx1"/>
                </a:solidFill>
                <a:latin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700">
                <a:solidFill>
                  <a:schemeClr val="tx1"/>
                </a:solidFill>
                <a:latin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200">
                <a:solidFill>
                  <a:schemeClr val="tx1"/>
                </a:solidFill>
                <a:latin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200">
                <a:solidFill>
                  <a:schemeClr val="tx1"/>
                </a:solidFill>
                <a:latin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200">
                <a:solidFill>
                  <a:schemeClr val="tx1"/>
                </a:solidFill>
                <a:latin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200">
                <a:solidFill>
                  <a:schemeClr val="tx1"/>
                </a:solidFill>
                <a:latin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200">
                <a:solidFill>
                  <a:schemeClr val="tx1"/>
                </a:solidFill>
                <a:latin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200">
                <a:solidFill>
                  <a:schemeClr val="tx1"/>
                </a:solidFill>
                <a:latin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000">
                <a:latin typeface="Arial" panose="020B0604020202020204" pitchFamily="34" charset="0"/>
              </a:rPr>
              <a:t>Campiche  240MW  Condenser</a:t>
            </a:r>
            <a:endParaRPr lang="ko-KR" altLang="en-US" sz="10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98208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E06E2520-24AF-86A0-8F47-9860C13F7441}"/>
              </a:ext>
            </a:extLst>
          </p:cNvPr>
          <p:cNvGrpSpPr/>
          <p:nvPr/>
        </p:nvGrpSpPr>
        <p:grpSpPr>
          <a:xfrm>
            <a:off x="438735" y="6910686"/>
            <a:ext cx="9263082" cy="430887"/>
            <a:chOff x="276651" y="5944009"/>
            <a:chExt cx="9263082" cy="430887"/>
          </a:xfrm>
        </p:grpSpPr>
        <p:pic>
          <p:nvPicPr>
            <p:cNvPr id="3" name="그림 15">
              <a:extLst>
                <a:ext uri="{FF2B5EF4-FFF2-40B4-BE49-F238E27FC236}">
                  <a16:creationId xmlns:a16="http://schemas.microsoft.com/office/drawing/2014/main" id="{F690374A-E831-DF23-3480-AE5F65B1E0B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7114721" y="5961200"/>
              <a:ext cx="408788" cy="36000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pSp>
          <p:nvGrpSpPr>
            <p:cNvPr id="4" name="그룹 10">
              <a:extLst>
                <a:ext uri="{FF2B5EF4-FFF2-40B4-BE49-F238E27FC236}">
                  <a16:creationId xmlns:a16="http://schemas.microsoft.com/office/drawing/2014/main" id="{FA9C7F14-7667-6A4C-0A2F-E0789A69841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6651" y="6184676"/>
              <a:ext cx="6649612" cy="136525"/>
              <a:chOff x="322263" y="7051675"/>
              <a:chExt cx="6481762" cy="136525"/>
            </a:xfrm>
          </p:grpSpPr>
          <p:sp>
            <p:nvSpPr>
              <p:cNvPr id="6" name="Rectangle 4">
                <a:extLst>
                  <a:ext uri="{FF2B5EF4-FFF2-40B4-BE49-F238E27FC236}">
                    <a16:creationId xmlns:a16="http://schemas.microsoft.com/office/drawing/2014/main" id="{A94BA6DE-D79A-F1F6-E31B-0FEFEE2089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2263" y="7051675"/>
                <a:ext cx="6482176" cy="17462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 w="381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ko-KR" altLang="en-US" dirty="0">
                  <a:latin typeface="Arial" pitchFamily="34" charset="0"/>
                  <a:ea typeface="굴림" pitchFamily="50" charset="-127"/>
                </a:endParaRPr>
              </a:p>
            </p:txBody>
          </p:sp>
          <p:sp>
            <p:nvSpPr>
              <p:cNvPr id="7" name="Rectangle 4">
                <a:extLst>
                  <a:ext uri="{FF2B5EF4-FFF2-40B4-BE49-F238E27FC236}">
                    <a16:creationId xmlns:a16="http://schemas.microsoft.com/office/drawing/2014/main" id="{E1C0653C-AB85-BF38-FCD8-698CC178C9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2263" y="7099300"/>
                <a:ext cx="6482176" cy="34925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381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ko-KR" altLang="en-US" dirty="0">
                  <a:latin typeface="Arial" pitchFamily="34" charset="0"/>
                  <a:ea typeface="굴림" pitchFamily="50" charset="-127"/>
                </a:endParaRPr>
              </a:p>
            </p:txBody>
          </p:sp>
          <p:sp>
            <p:nvSpPr>
              <p:cNvPr id="8" name="Rectangle 4">
                <a:extLst>
                  <a:ext uri="{FF2B5EF4-FFF2-40B4-BE49-F238E27FC236}">
                    <a16:creationId xmlns:a16="http://schemas.microsoft.com/office/drawing/2014/main" id="{C12F9C59-7653-FD13-29CD-AEE18ACFF6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2263" y="7169150"/>
                <a:ext cx="6481762" cy="19050"/>
              </a:xfrm>
              <a:prstGeom prst="rect">
                <a:avLst/>
              </a:prstGeom>
              <a:solidFill>
                <a:srgbClr val="2931CD"/>
              </a:solidFill>
              <a:ln w="381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14CA3E4-D5D7-18D2-DEC0-BE3CC704EB8B}"/>
                </a:ext>
              </a:extLst>
            </p:cNvPr>
            <p:cNvSpPr txBox="1"/>
            <p:nvPr/>
          </p:nvSpPr>
          <p:spPr>
            <a:xfrm>
              <a:off x="7515796" y="5944009"/>
              <a:ext cx="2023937" cy="430887"/>
            </a:xfrm>
            <a:prstGeom prst="rect">
              <a:avLst/>
            </a:prstGeom>
            <a:noFill/>
          </p:spPr>
          <p:txBody>
            <a:bodyPr wrap="square" rtlCol="0" lIns="50800" rIns="50800" tIns="25400" bIns="25400">
              <a:spAutoFit/>
            </a:bodyPr>
            <a:lstStyle/>
            <a:p>
              <a:pPr algn="ctr"/>
              <a:r>
                <a:rPr sz="1100" b="0"/>
                <a:t>ROK SHIPPING CO., LTD.</a:t>
              </a:r>
            </a:p>
            <a:p>
              <a:pPr algn="ctr"/>
              <a:r>
                <a:rPr sz="1100" b="0"/>
                <a:t>알 오 케 이 쉬 핑</a:t>
              </a:r>
            </a:p>
          </p:txBody>
        </p:sp>
      </p:grpSp>
      <p:pic>
        <p:nvPicPr>
          <p:cNvPr id="9" name="Picture 20">
            <a:extLst>
              <a:ext uri="{FF2B5EF4-FFF2-40B4-BE49-F238E27FC236}">
                <a16:creationId xmlns:a16="http://schemas.microsoft.com/office/drawing/2014/main" id="{15D06D01-2510-1C98-59E0-57E9DDB58C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2538" y="2022475"/>
            <a:ext cx="3140075" cy="1857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21">
            <a:extLst>
              <a:ext uri="{FF2B5EF4-FFF2-40B4-BE49-F238E27FC236}">
                <a16:creationId xmlns:a16="http://schemas.microsoft.com/office/drawing/2014/main" id="{C7BCE717-1ED0-7807-4020-8C5BA32746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3225" y="2093913"/>
            <a:ext cx="2774950" cy="3957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22">
            <a:extLst>
              <a:ext uri="{FF2B5EF4-FFF2-40B4-BE49-F238E27FC236}">
                <a16:creationId xmlns:a16="http://schemas.microsoft.com/office/drawing/2014/main" id="{B8F0D0F0-650A-6668-2D11-E72F1F9452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988" y="1951038"/>
            <a:ext cx="2466975" cy="381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23">
            <a:extLst>
              <a:ext uri="{FF2B5EF4-FFF2-40B4-BE49-F238E27FC236}">
                <a16:creationId xmlns:a16="http://schemas.microsoft.com/office/drawing/2014/main" id="{60431A9A-955C-81A3-A414-8C90FA73A0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6425" y="4451350"/>
            <a:ext cx="3155950" cy="1643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직사각형 28">
            <a:extLst>
              <a:ext uri="{FF2B5EF4-FFF2-40B4-BE49-F238E27FC236}">
                <a16:creationId xmlns:a16="http://schemas.microsoft.com/office/drawing/2014/main" id="{A631815E-FEE6-B322-4D56-479C46714D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7925" y="3879850"/>
            <a:ext cx="2714625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3100">
                <a:solidFill>
                  <a:schemeClr val="tx1"/>
                </a:solidFill>
                <a:latin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700">
                <a:solidFill>
                  <a:schemeClr val="tx1"/>
                </a:solidFill>
                <a:latin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200">
                <a:solidFill>
                  <a:schemeClr val="tx1"/>
                </a:solidFill>
                <a:latin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200">
                <a:solidFill>
                  <a:schemeClr val="tx1"/>
                </a:solidFill>
                <a:latin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200">
                <a:solidFill>
                  <a:schemeClr val="tx1"/>
                </a:solidFill>
                <a:latin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200">
                <a:solidFill>
                  <a:schemeClr val="tx1"/>
                </a:solidFill>
                <a:latin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200">
                <a:solidFill>
                  <a:schemeClr val="tx1"/>
                </a:solidFill>
                <a:latin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200">
                <a:solidFill>
                  <a:schemeClr val="tx1"/>
                </a:solidFill>
                <a:latin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000">
                <a:latin typeface="Arial" panose="020B0604020202020204" pitchFamily="34" charset="0"/>
              </a:rPr>
              <a:t>Electric Control Cabinet</a:t>
            </a:r>
            <a:endParaRPr lang="ko-KR" altLang="en-US" sz="1000">
              <a:latin typeface="Arial" panose="020B0604020202020204" pitchFamily="34" charset="0"/>
            </a:endParaRPr>
          </a:p>
        </p:txBody>
      </p:sp>
      <p:sp>
        <p:nvSpPr>
          <p:cNvPr id="14" name="직사각형 29">
            <a:extLst>
              <a:ext uri="{FF2B5EF4-FFF2-40B4-BE49-F238E27FC236}">
                <a16:creationId xmlns:a16="http://schemas.microsoft.com/office/drawing/2014/main" id="{3B57725E-2F68-DC4F-4014-33B9807B14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46863" y="6022975"/>
            <a:ext cx="2857500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3100">
                <a:solidFill>
                  <a:schemeClr val="tx1"/>
                </a:solidFill>
                <a:latin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700">
                <a:solidFill>
                  <a:schemeClr val="tx1"/>
                </a:solidFill>
                <a:latin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200">
                <a:solidFill>
                  <a:schemeClr val="tx1"/>
                </a:solidFill>
                <a:latin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200">
                <a:solidFill>
                  <a:schemeClr val="tx1"/>
                </a:solidFill>
                <a:latin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200">
                <a:solidFill>
                  <a:schemeClr val="tx1"/>
                </a:solidFill>
                <a:latin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200">
                <a:solidFill>
                  <a:schemeClr val="tx1"/>
                </a:solidFill>
                <a:latin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200">
                <a:solidFill>
                  <a:schemeClr val="tx1"/>
                </a:solidFill>
                <a:latin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200">
                <a:solidFill>
                  <a:schemeClr val="tx1"/>
                </a:solidFill>
                <a:latin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000">
                <a:latin typeface="Arial" panose="020B0604020202020204" pitchFamily="34" charset="0"/>
              </a:rPr>
              <a:t>KEPCO  BUCHEON CCPP 300MW PROJECT</a:t>
            </a:r>
            <a:endParaRPr lang="ko-KR" altLang="en-US" sz="1000">
              <a:latin typeface="Arial" panose="020B0604020202020204" pitchFamily="34" charset="0"/>
            </a:endParaRPr>
          </a:p>
        </p:txBody>
      </p:sp>
      <p:sp>
        <p:nvSpPr>
          <p:cNvPr id="15" name="직사각형 30">
            <a:extLst>
              <a:ext uri="{FF2B5EF4-FFF2-40B4-BE49-F238E27FC236}">
                <a16:creationId xmlns:a16="http://schemas.microsoft.com/office/drawing/2014/main" id="{85E5A4F7-DDF5-9CBE-8A3B-FCE03F88BA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4988" y="6094413"/>
            <a:ext cx="1643062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3100">
                <a:solidFill>
                  <a:schemeClr val="tx1"/>
                </a:solidFill>
                <a:latin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700">
                <a:solidFill>
                  <a:schemeClr val="tx1"/>
                </a:solidFill>
                <a:latin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200">
                <a:solidFill>
                  <a:schemeClr val="tx1"/>
                </a:solidFill>
                <a:latin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200">
                <a:solidFill>
                  <a:schemeClr val="tx1"/>
                </a:solidFill>
                <a:latin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200">
                <a:solidFill>
                  <a:schemeClr val="tx1"/>
                </a:solidFill>
                <a:latin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200">
                <a:solidFill>
                  <a:schemeClr val="tx1"/>
                </a:solidFill>
                <a:latin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200">
                <a:solidFill>
                  <a:schemeClr val="tx1"/>
                </a:solidFill>
                <a:latin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200">
                <a:solidFill>
                  <a:schemeClr val="tx1"/>
                </a:solidFill>
                <a:latin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000">
                <a:latin typeface="Arial" panose="020B0604020202020204" pitchFamily="34" charset="0"/>
              </a:rPr>
              <a:t>Gas Turbine Unit 147tons</a:t>
            </a:r>
            <a:endParaRPr lang="ko-KR" altLang="en-US" sz="1000">
              <a:latin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879C5B3-11BF-C37E-0FD6-E00A0DF05D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4056" y="1164388"/>
            <a:ext cx="4237037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50800" rIns="50800" tIns="25400" bIns="25400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3100">
                <a:solidFill>
                  <a:schemeClr val="tx1"/>
                </a:solidFill>
                <a:latin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700">
                <a:solidFill>
                  <a:schemeClr val="tx1"/>
                </a:solidFill>
                <a:latin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200">
                <a:solidFill>
                  <a:schemeClr val="tx1"/>
                </a:solidFill>
                <a:latin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200">
                <a:solidFill>
                  <a:schemeClr val="tx1"/>
                </a:solidFill>
                <a:latin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200">
                <a:solidFill>
                  <a:schemeClr val="tx1"/>
                </a:solidFill>
                <a:latin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200">
                <a:solidFill>
                  <a:schemeClr val="tx1"/>
                </a:solidFill>
                <a:latin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200">
                <a:solidFill>
                  <a:schemeClr val="tx1"/>
                </a:solidFill>
                <a:latin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200">
                <a:solidFill>
                  <a:schemeClr val="tx1"/>
                </a:solidFill>
                <a:latin typeface="맑은 고딕" panose="020B0503020000020004" pitchFamily="50" charset="-127"/>
              </a:defRPr>
            </a:lvl9pPr>
          </a:lstStyle>
          <a:p>
            <a:pPr eaLnBrk="1" hangingPunct="1" algn="ctr">
              <a:spcBef>
                <a:spcPct val="0"/>
              </a:spcBef>
              <a:buFontTx/>
              <a:buNone/>
            </a:pPr>
            <a:r>
              <a:rPr sz="1800" b="1"/>
              <a:t>&lt;&lt; PROJECT SUPPORT / INDUSTRIAL EQUIPMENT &gt;&gt;</a:t>
            </a:r>
            <a:endParaRPr lang="ko-KR" altLang="en-US" sz="1600" b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79703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6B2DC1D8-5AC6-14EB-E4B6-D569FF3F8BAC}"/>
              </a:ext>
            </a:extLst>
          </p:cNvPr>
          <p:cNvGrpSpPr/>
          <p:nvPr/>
        </p:nvGrpSpPr>
        <p:grpSpPr>
          <a:xfrm>
            <a:off x="438735" y="6910686"/>
            <a:ext cx="9263082" cy="430887"/>
            <a:chOff x="276651" y="5944009"/>
            <a:chExt cx="9263082" cy="430887"/>
          </a:xfrm>
        </p:grpSpPr>
        <p:pic>
          <p:nvPicPr>
            <p:cNvPr id="3" name="그림 15">
              <a:extLst>
                <a:ext uri="{FF2B5EF4-FFF2-40B4-BE49-F238E27FC236}">
                  <a16:creationId xmlns:a16="http://schemas.microsoft.com/office/drawing/2014/main" id="{CB36B9AE-CEDE-6FB5-5D2C-14F1EB024DD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7114721" y="5961200"/>
              <a:ext cx="408788" cy="36000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pSp>
          <p:nvGrpSpPr>
            <p:cNvPr id="4" name="그룹 10">
              <a:extLst>
                <a:ext uri="{FF2B5EF4-FFF2-40B4-BE49-F238E27FC236}">
                  <a16:creationId xmlns:a16="http://schemas.microsoft.com/office/drawing/2014/main" id="{DAC667A3-6340-311A-8FA5-67496665CD4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6651" y="6184676"/>
              <a:ext cx="6649612" cy="136525"/>
              <a:chOff x="322263" y="7051675"/>
              <a:chExt cx="6481762" cy="136525"/>
            </a:xfrm>
          </p:grpSpPr>
          <p:sp>
            <p:nvSpPr>
              <p:cNvPr id="6" name="Rectangle 4">
                <a:extLst>
                  <a:ext uri="{FF2B5EF4-FFF2-40B4-BE49-F238E27FC236}">
                    <a16:creationId xmlns:a16="http://schemas.microsoft.com/office/drawing/2014/main" id="{A396962B-8AC4-C281-455B-109D72F05C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2263" y="7051675"/>
                <a:ext cx="6482176" cy="17462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 w="381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ko-KR" altLang="en-US" dirty="0">
                  <a:latin typeface="Arial" pitchFamily="34" charset="0"/>
                  <a:ea typeface="굴림" pitchFamily="50" charset="-127"/>
                </a:endParaRPr>
              </a:p>
            </p:txBody>
          </p:sp>
          <p:sp>
            <p:nvSpPr>
              <p:cNvPr id="7" name="Rectangle 4">
                <a:extLst>
                  <a:ext uri="{FF2B5EF4-FFF2-40B4-BE49-F238E27FC236}">
                    <a16:creationId xmlns:a16="http://schemas.microsoft.com/office/drawing/2014/main" id="{A522372A-4696-03A2-6B58-A3A0E01CCA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2263" y="7099300"/>
                <a:ext cx="6482176" cy="34925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381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ko-KR" altLang="en-US" dirty="0">
                  <a:latin typeface="Arial" pitchFamily="34" charset="0"/>
                  <a:ea typeface="굴림" pitchFamily="50" charset="-127"/>
                </a:endParaRPr>
              </a:p>
            </p:txBody>
          </p:sp>
          <p:sp>
            <p:nvSpPr>
              <p:cNvPr id="8" name="Rectangle 4">
                <a:extLst>
                  <a:ext uri="{FF2B5EF4-FFF2-40B4-BE49-F238E27FC236}">
                    <a16:creationId xmlns:a16="http://schemas.microsoft.com/office/drawing/2014/main" id="{43F4FB8B-D9E7-7F04-6FB8-B3A4F9A950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2263" y="7169150"/>
                <a:ext cx="6481762" cy="19050"/>
              </a:xfrm>
              <a:prstGeom prst="rect">
                <a:avLst/>
              </a:prstGeom>
              <a:solidFill>
                <a:srgbClr val="2931CD"/>
              </a:solidFill>
              <a:ln w="381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64F8770-5D9C-E72D-965C-B93C36B0DBD4}"/>
                </a:ext>
              </a:extLst>
            </p:cNvPr>
            <p:cNvSpPr txBox="1"/>
            <p:nvPr/>
          </p:nvSpPr>
          <p:spPr>
            <a:xfrm>
              <a:off x="7515796" y="5944009"/>
              <a:ext cx="2023937" cy="430887"/>
            </a:xfrm>
            <a:prstGeom prst="rect">
              <a:avLst/>
            </a:prstGeom>
            <a:noFill/>
          </p:spPr>
          <p:txBody>
            <a:bodyPr wrap="square" rtlCol="0" lIns="50800" rIns="50800" tIns="25400" bIns="25400">
              <a:spAutoFit/>
            </a:bodyPr>
            <a:lstStyle/>
            <a:p>
              <a:pPr algn="ctr"/>
              <a:r>
                <a:rPr sz="1100" b="0"/>
                <a:t>ROK SHIPPING CO., LTD.</a:t>
              </a:r>
            </a:p>
            <a:p>
              <a:pPr algn="ctr"/>
              <a:r>
                <a:rPr sz="1100" b="0"/>
                <a:t>알 오 케 이 쉬 핑</a:t>
              </a:r>
            </a:p>
          </p:txBody>
        </p:sp>
      </p:grpSp>
      <p:pic>
        <p:nvPicPr>
          <p:cNvPr id="9" name="Picture 3">
            <a:extLst>
              <a:ext uri="{FF2B5EF4-FFF2-40B4-BE49-F238E27FC236}">
                <a16:creationId xmlns:a16="http://schemas.microsoft.com/office/drawing/2014/main" id="{B7AD3DCF-EE37-012D-82EE-6D005A8971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2388" y="1504950"/>
            <a:ext cx="4181475" cy="212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4">
            <a:extLst>
              <a:ext uri="{FF2B5EF4-FFF2-40B4-BE49-F238E27FC236}">
                <a16:creationId xmlns:a16="http://schemas.microsoft.com/office/drawing/2014/main" id="{30F147FD-C8D1-7101-CA02-F5F29BADB7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4738" y="4165600"/>
            <a:ext cx="4814887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직사각형 28">
            <a:extLst>
              <a:ext uri="{FF2B5EF4-FFF2-40B4-BE49-F238E27FC236}">
                <a16:creationId xmlns:a16="http://schemas.microsoft.com/office/drawing/2014/main" id="{6E654A6C-6BDA-07EE-4D32-AE3A42CD67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3300" y="3951288"/>
            <a:ext cx="285750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50800" rIns="50800" tIns="25400" bIns="25400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hangingPunct="1" algn="ctr"/>
            <a:r>
              <a:rPr sz="1100" b="1"/>
              <a:t>FINEX Pohang OXYGEN PLANT</a:t>
            </a:r>
            <a:endParaRPr lang="ko-KR" altLang="en-US" sz="1000"/>
          </a:p>
        </p:txBody>
      </p:sp>
      <p:sp>
        <p:nvSpPr>
          <p:cNvPr id="12" name="직사각형 29">
            <a:extLst>
              <a:ext uri="{FF2B5EF4-FFF2-40B4-BE49-F238E27FC236}">
                <a16:creationId xmlns:a16="http://schemas.microsoft.com/office/drawing/2014/main" id="{D2FE96EA-FCF4-B93B-4217-6F2293D3E6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4738" y="6380163"/>
            <a:ext cx="285750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fr-FR" altLang="ko-KR" sz="1000"/>
              <a:t>Columns package 250tons</a:t>
            </a:r>
            <a:endParaRPr lang="ko-KR" altLang="en-US" sz="1000"/>
          </a:p>
        </p:txBody>
      </p:sp>
      <p:sp>
        <p:nvSpPr>
          <p:cNvPr id="13" name="직사각형 30">
            <a:extLst>
              <a:ext uri="{FF2B5EF4-FFF2-40B4-BE49-F238E27FC236}">
                <a16:creationId xmlns:a16="http://schemas.microsoft.com/office/drawing/2014/main" id="{AD6C8110-61BD-3726-1066-3D9D8E28B5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3300" y="1276350"/>
            <a:ext cx="3571875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50800" rIns="50800" tIns="25400" bIns="25400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hangingPunct="1" algn="ctr"/>
            <a:r>
              <a:rPr sz="1100" b="1"/>
              <a:t>7,000 TONS FORGING PRESS PROJECT</a:t>
            </a:r>
            <a:endParaRPr lang="ko-KR" altLang="en-US" sz="1000"/>
          </a:p>
        </p:txBody>
      </p:sp>
      <p:sp>
        <p:nvSpPr>
          <p:cNvPr id="14" name="직사각형 31">
            <a:extLst>
              <a:ext uri="{FF2B5EF4-FFF2-40B4-BE49-F238E27FC236}">
                <a16:creationId xmlns:a16="http://schemas.microsoft.com/office/drawing/2014/main" id="{2D2D91F4-3B2C-39B2-A729-08A6DB4E48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2175" y="3665538"/>
            <a:ext cx="2428875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000"/>
              <a:t>Press shaft 150tons for Forging Press</a:t>
            </a:r>
          </a:p>
        </p:txBody>
      </p:sp>
      <p:pic>
        <p:nvPicPr>
          <p:cNvPr id="15" name="Picture 5">
            <a:extLst>
              <a:ext uri="{FF2B5EF4-FFF2-40B4-BE49-F238E27FC236}">
                <a16:creationId xmlns:a16="http://schemas.microsoft.com/office/drawing/2014/main" id="{F07F3327-C39A-2064-C1D2-79B56C6E54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6925" y="1789113"/>
            <a:ext cx="2566988" cy="2090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6">
            <a:extLst>
              <a:ext uri="{FF2B5EF4-FFF2-40B4-BE49-F238E27FC236}">
                <a16:creationId xmlns:a16="http://schemas.microsoft.com/office/drawing/2014/main" id="{C2986878-40EC-512E-4FF3-7E704DFDBA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9675" y="3879850"/>
            <a:ext cx="3519488" cy="2071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직사각형 34">
            <a:extLst>
              <a:ext uri="{FF2B5EF4-FFF2-40B4-BE49-F238E27FC236}">
                <a16:creationId xmlns:a16="http://schemas.microsoft.com/office/drawing/2014/main" id="{DC5F100E-5B42-C09E-B9AB-694FCD6D96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8238" y="1522413"/>
            <a:ext cx="1785937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000"/>
              <a:t>Areoflot  AN124 Chart</a:t>
            </a:r>
            <a:endParaRPr lang="ko-KR" altLang="en-US" sz="1000"/>
          </a:p>
        </p:txBody>
      </p:sp>
      <p:sp>
        <p:nvSpPr>
          <p:cNvPr id="18" name="TextBox 15">
            <a:extLst>
              <a:ext uri="{FF2B5EF4-FFF2-40B4-BE49-F238E27FC236}">
                <a16:creationId xmlns:a16="http://schemas.microsoft.com/office/drawing/2014/main" id="{2097163D-7029-A65B-D20C-6D6A4DAD2B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85156" y="841323"/>
            <a:ext cx="350043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50800" rIns="50800" tIns="25400" bIns="25400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hangingPunct="1" algn="ctr"/>
            <a:r>
              <a:rPr sz="1800" b="1"/>
              <a:t>&lt;&lt; IRON &amp; STEEL / HEAVY INDUSTRY PROJECTS &gt;&gt;</a:t>
            </a:r>
            <a:endParaRPr lang="ko-KR" altLang="en-US" sz="1600" b="1" dirty="0"/>
          </a:p>
        </p:txBody>
      </p:sp>
      <p:sp>
        <p:nvSpPr>
          <p:cNvPr id="19" name="직사각형 36">
            <a:extLst>
              <a:ext uri="{FF2B5EF4-FFF2-40B4-BE49-F238E27FC236}">
                <a16:creationId xmlns:a16="http://schemas.microsoft.com/office/drawing/2014/main" id="{0EF9DEBF-1270-1060-8E48-4B0F642AD5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46800" y="5951538"/>
            <a:ext cx="2481263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000"/>
              <a:t>POSCO Finex Synchronize Motor  60ton</a:t>
            </a:r>
            <a:endParaRPr lang="ko-KR" altLang="en-US" sz="1000"/>
          </a:p>
        </p:txBody>
      </p:sp>
    </p:spTree>
    <p:extLst>
      <p:ext uri="{BB962C8B-B14F-4D97-AF65-F5344CB8AC3E}">
        <p14:creationId xmlns:p14="http://schemas.microsoft.com/office/powerpoint/2010/main" val="5678080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55A4776E-DF0E-F2D1-6944-366EC0556149}"/>
              </a:ext>
            </a:extLst>
          </p:cNvPr>
          <p:cNvGrpSpPr/>
          <p:nvPr/>
        </p:nvGrpSpPr>
        <p:grpSpPr>
          <a:xfrm>
            <a:off x="438735" y="6910686"/>
            <a:ext cx="9263082" cy="430887"/>
            <a:chOff x="276651" y="5944009"/>
            <a:chExt cx="9263082" cy="430887"/>
          </a:xfrm>
        </p:grpSpPr>
        <p:pic>
          <p:nvPicPr>
            <p:cNvPr id="3" name="그림 15">
              <a:extLst>
                <a:ext uri="{FF2B5EF4-FFF2-40B4-BE49-F238E27FC236}">
                  <a16:creationId xmlns:a16="http://schemas.microsoft.com/office/drawing/2014/main" id="{B21EEB6E-96B5-71A1-8AC0-199B773D3EF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7114721" y="5961200"/>
              <a:ext cx="408788" cy="36000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pSp>
          <p:nvGrpSpPr>
            <p:cNvPr id="4" name="그룹 10">
              <a:extLst>
                <a:ext uri="{FF2B5EF4-FFF2-40B4-BE49-F238E27FC236}">
                  <a16:creationId xmlns:a16="http://schemas.microsoft.com/office/drawing/2014/main" id="{EFECD654-24AB-CD00-F5AB-3EE49846929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6651" y="6184676"/>
              <a:ext cx="6649612" cy="136525"/>
              <a:chOff x="322263" y="7051675"/>
              <a:chExt cx="6481762" cy="136525"/>
            </a:xfrm>
          </p:grpSpPr>
          <p:sp>
            <p:nvSpPr>
              <p:cNvPr id="6" name="Rectangle 4">
                <a:extLst>
                  <a:ext uri="{FF2B5EF4-FFF2-40B4-BE49-F238E27FC236}">
                    <a16:creationId xmlns:a16="http://schemas.microsoft.com/office/drawing/2014/main" id="{A064E2FE-B80E-A5D8-6B24-A94F7C0E97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2263" y="7051675"/>
                <a:ext cx="6482176" cy="17462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 w="381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ko-KR" altLang="en-US" dirty="0">
                  <a:latin typeface="Arial" pitchFamily="34" charset="0"/>
                  <a:ea typeface="굴림" pitchFamily="50" charset="-127"/>
                </a:endParaRPr>
              </a:p>
            </p:txBody>
          </p:sp>
          <p:sp>
            <p:nvSpPr>
              <p:cNvPr id="7" name="Rectangle 4">
                <a:extLst>
                  <a:ext uri="{FF2B5EF4-FFF2-40B4-BE49-F238E27FC236}">
                    <a16:creationId xmlns:a16="http://schemas.microsoft.com/office/drawing/2014/main" id="{00C55D0D-EFDC-A0BC-FC27-E59DB2F40E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2263" y="7099300"/>
                <a:ext cx="6482176" cy="34925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381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ko-KR" altLang="en-US" dirty="0">
                  <a:latin typeface="Arial" pitchFamily="34" charset="0"/>
                  <a:ea typeface="굴림" pitchFamily="50" charset="-127"/>
                </a:endParaRPr>
              </a:p>
            </p:txBody>
          </p:sp>
          <p:sp>
            <p:nvSpPr>
              <p:cNvPr id="8" name="Rectangle 4">
                <a:extLst>
                  <a:ext uri="{FF2B5EF4-FFF2-40B4-BE49-F238E27FC236}">
                    <a16:creationId xmlns:a16="http://schemas.microsoft.com/office/drawing/2014/main" id="{DE8A9104-79A7-19E9-2399-0734DF9776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2263" y="7169150"/>
                <a:ext cx="6481762" cy="19050"/>
              </a:xfrm>
              <a:prstGeom prst="rect">
                <a:avLst/>
              </a:prstGeom>
              <a:solidFill>
                <a:srgbClr val="2931CD"/>
              </a:solidFill>
              <a:ln w="381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08D6C6E-D6B5-B0C8-5DC3-EA1074D36F86}"/>
                </a:ext>
              </a:extLst>
            </p:cNvPr>
            <p:cNvSpPr txBox="1"/>
            <p:nvPr/>
          </p:nvSpPr>
          <p:spPr>
            <a:xfrm>
              <a:off x="7515796" y="5944009"/>
              <a:ext cx="2023937" cy="430887"/>
            </a:xfrm>
            <a:prstGeom prst="rect">
              <a:avLst/>
            </a:prstGeom>
            <a:noFill/>
          </p:spPr>
          <p:txBody>
            <a:bodyPr wrap="square" rtlCol="0" lIns="50800" rIns="50800" tIns="25400" bIns="25400">
              <a:spAutoFit/>
            </a:bodyPr>
            <a:lstStyle/>
            <a:p>
              <a:pPr algn="ctr"/>
              <a:r>
                <a:rPr sz="1100" b="0"/>
                <a:t>ROK SHIPPING CO., LTD.</a:t>
              </a:r>
            </a:p>
            <a:p>
              <a:pPr algn="ctr"/>
              <a:r>
                <a:rPr sz="1100" b="0"/>
                <a:t>알 오 케 이 쉬 핑</a:t>
              </a:r>
            </a:p>
          </p:txBody>
        </p:sp>
      </p:grpSp>
      <p:pic>
        <p:nvPicPr>
          <p:cNvPr id="9" name="그림 3" descr="하늘, 야외, 지상, 교통이(가) 표시된 사진&#10;&#10;자동 생성된 설명">
            <a:extLst>
              <a:ext uri="{FF2B5EF4-FFF2-40B4-BE49-F238E27FC236}">
                <a16:creationId xmlns:a16="http://schemas.microsoft.com/office/drawing/2014/main" id="{06C73F83-F917-8577-7C0D-753AFF46C4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0750" y="1939925"/>
            <a:ext cx="4154488" cy="311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그림 5" descr="야외, 하늘, 차량, 육상 차량이(가) 표시된 사진&#10;&#10;자동 생성된 설명">
            <a:extLst>
              <a:ext uri="{FF2B5EF4-FFF2-40B4-BE49-F238E27FC236}">
                <a16:creationId xmlns:a16="http://schemas.microsoft.com/office/drawing/2014/main" id="{13D33B92-1969-CC7E-7D92-78DCE929C9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3013" y="3405188"/>
            <a:ext cx="4464050" cy="2976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7">
            <a:extLst>
              <a:ext uri="{FF2B5EF4-FFF2-40B4-BE49-F238E27FC236}">
                <a16:creationId xmlns:a16="http://schemas.microsoft.com/office/drawing/2014/main" id="{3B957098-6911-9517-942C-2E3A5FB078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1338" y="1235075"/>
            <a:ext cx="6481762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50800" rIns="50800" tIns="25400" bIns="25400">
            <a:spAutoFit/>
          </a:bodyPr>
          <a:lstStyle/>
          <a:p>
            <a:pPr eaLnBrk="1" hangingPunct="1" algn="ctr"/>
            <a:r>
              <a:rPr sz="1800" b="1"/>
              <a:t>&lt;&lt; MULTIMODAL PROJECT LOGISTICS EXPERIENCE &gt;&gt;</a:t>
            </a:r>
            <a:endParaRPr lang="ko-KR" altLang="en-US" sz="1600" b="1" dirty="0"/>
          </a:p>
        </p:txBody>
      </p:sp>
      <p:sp>
        <p:nvSpPr>
          <p:cNvPr id="12" name="직사각형 17">
            <a:extLst>
              <a:ext uri="{FF2B5EF4-FFF2-40B4-BE49-F238E27FC236}">
                <a16:creationId xmlns:a16="http://schemas.microsoft.com/office/drawing/2014/main" id="{848144A0-5664-2C7B-7D48-BCF3AE383C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5100" y="6448425"/>
            <a:ext cx="3044825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3100">
                <a:solidFill>
                  <a:schemeClr val="tx1"/>
                </a:solidFill>
                <a:latin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700">
                <a:solidFill>
                  <a:schemeClr val="tx1"/>
                </a:solidFill>
                <a:latin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200">
                <a:solidFill>
                  <a:schemeClr val="tx1"/>
                </a:solidFill>
                <a:latin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200">
                <a:solidFill>
                  <a:schemeClr val="tx1"/>
                </a:solidFill>
                <a:latin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200">
                <a:solidFill>
                  <a:schemeClr val="tx1"/>
                </a:solidFill>
                <a:latin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200">
                <a:solidFill>
                  <a:schemeClr val="tx1"/>
                </a:solidFill>
                <a:latin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200">
                <a:solidFill>
                  <a:schemeClr val="tx1"/>
                </a:solidFill>
                <a:latin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200">
                <a:solidFill>
                  <a:schemeClr val="tx1"/>
                </a:solidFill>
                <a:latin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000">
                <a:latin typeface="Arial" panose="020B0604020202020204" pitchFamily="34" charset="0"/>
              </a:rPr>
              <a:t>FUEL CELL BY BARGE TRANSPORT</a:t>
            </a:r>
            <a:endParaRPr lang="ko-KR" altLang="en-US" sz="1000">
              <a:latin typeface="Arial" panose="020B0604020202020204" pitchFamily="34" charset="0"/>
            </a:endParaRPr>
          </a:p>
        </p:txBody>
      </p:sp>
      <p:sp>
        <p:nvSpPr>
          <p:cNvPr id="13" name="직사각형 17">
            <a:extLst>
              <a:ext uri="{FF2B5EF4-FFF2-40B4-BE49-F238E27FC236}">
                <a16:creationId xmlns:a16="http://schemas.microsoft.com/office/drawing/2014/main" id="{B8FA8490-4CBA-7926-EDA6-95ACD3AEB6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7450" y="5214938"/>
            <a:ext cx="3044825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3100">
                <a:solidFill>
                  <a:schemeClr val="tx1"/>
                </a:solidFill>
                <a:latin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700">
                <a:solidFill>
                  <a:schemeClr val="tx1"/>
                </a:solidFill>
                <a:latin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200">
                <a:solidFill>
                  <a:schemeClr val="tx1"/>
                </a:solidFill>
                <a:latin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200">
                <a:solidFill>
                  <a:schemeClr val="tx1"/>
                </a:solidFill>
                <a:latin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200">
                <a:solidFill>
                  <a:schemeClr val="tx1"/>
                </a:solidFill>
                <a:latin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200">
                <a:solidFill>
                  <a:schemeClr val="tx1"/>
                </a:solidFill>
                <a:latin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200">
                <a:solidFill>
                  <a:schemeClr val="tx1"/>
                </a:solidFill>
                <a:latin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200">
                <a:solidFill>
                  <a:schemeClr val="tx1"/>
                </a:solidFill>
                <a:latin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000">
                <a:latin typeface="Arial" panose="020B0604020202020204" pitchFamily="34" charset="0"/>
              </a:rPr>
              <a:t>MODULE BY BARGE TRANSPORT</a:t>
            </a:r>
            <a:endParaRPr lang="ko-KR" altLang="en-US" sz="10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89689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그룹 25">
            <a:extLst>
              <a:ext uri="{FF2B5EF4-FFF2-40B4-BE49-F238E27FC236}">
                <a16:creationId xmlns:a16="http://schemas.microsoft.com/office/drawing/2014/main" id="{40E982E9-7BF2-5662-167D-E19742329573}"/>
              </a:ext>
            </a:extLst>
          </p:cNvPr>
          <p:cNvGrpSpPr/>
          <p:nvPr/>
        </p:nvGrpSpPr>
        <p:grpSpPr>
          <a:xfrm>
            <a:off x="438735" y="6910686"/>
            <a:ext cx="9263082" cy="430887"/>
            <a:chOff x="276651" y="5944009"/>
            <a:chExt cx="9263082" cy="430887"/>
          </a:xfrm>
        </p:grpSpPr>
        <p:pic>
          <p:nvPicPr>
            <p:cNvPr id="27" name="그림 15">
              <a:extLst>
                <a:ext uri="{FF2B5EF4-FFF2-40B4-BE49-F238E27FC236}">
                  <a16:creationId xmlns:a16="http://schemas.microsoft.com/office/drawing/2014/main" id="{05AF76DC-F15C-DB9C-F668-5A5A94C2ABC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7114721" y="5961200"/>
              <a:ext cx="408788" cy="36000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pSp>
          <p:nvGrpSpPr>
            <p:cNvPr id="28" name="그룹 10">
              <a:extLst>
                <a:ext uri="{FF2B5EF4-FFF2-40B4-BE49-F238E27FC236}">
                  <a16:creationId xmlns:a16="http://schemas.microsoft.com/office/drawing/2014/main" id="{90E3B2FC-EAFB-6C7A-8CFB-53C41725EC7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6651" y="6184676"/>
              <a:ext cx="6649612" cy="136525"/>
              <a:chOff x="322263" y="7051675"/>
              <a:chExt cx="6481762" cy="136525"/>
            </a:xfrm>
          </p:grpSpPr>
          <p:sp>
            <p:nvSpPr>
              <p:cNvPr id="30" name="Rectangle 4">
                <a:extLst>
                  <a:ext uri="{FF2B5EF4-FFF2-40B4-BE49-F238E27FC236}">
                    <a16:creationId xmlns:a16="http://schemas.microsoft.com/office/drawing/2014/main" id="{53750CBB-E6FC-485A-AD3E-B8DACD47FA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2263" y="7051675"/>
                <a:ext cx="6482176" cy="17462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 w="381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ko-KR" altLang="en-US" dirty="0">
                  <a:latin typeface="Arial" pitchFamily="34" charset="0"/>
                  <a:ea typeface="굴림" pitchFamily="50" charset="-127"/>
                </a:endParaRPr>
              </a:p>
            </p:txBody>
          </p:sp>
          <p:sp>
            <p:nvSpPr>
              <p:cNvPr id="31" name="Rectangle 4">
                <a:extLst>
                  <a:ext uri="{FF2B5EF4-FFF2-40B4-BE49-F238E27FC236}">
                    <a16:creationId xmlns:a16="http://schemas.microsoft.com/office/drawing/2014/main" id="{9C4F676C-23F2-EFAE-67A9-2D7E522D69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2263" y="7099300"/>
                <a:ext cx="6482176" cy="34925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381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ko-KR" altLang="en-US" dirty="0">
                  <a:latin typeface="Arial" pitchFamily="34" charset="0"/>
                  <a:ea typeface="굴림" pitchFamily="50" charset="-127"/>
                </a:endParaRPr>
              </a:p>
            </p:txBody>
          </p:sp>
          <p:sp>
            <p:nvSpPr>
              <p:cNvPr id="32" name="Rectangle 4">
                <a:extLst>
                  <a:ext uri="{FF2B5EF4-FFF2-40B4-BE49-F238E27FC236}">
                    <a16:creationId xmlns:a16="http://schemas.microsoft.com/office/drawing/2014/main" id="{0AE3741B-0A09-B209-E474-34DC67D9D0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2263" y="7169150"/>
                <a:ext cx="6481762" cy="19050"/>
              </a:xfrm>
              <a:prstGeom prst="rect">
                <a:avLst/>
              </a:prstGeom>
              <a:solidFill>
                <a:srgbClr val="2931CD"/>
              </a:solidFill>
              <a:ln w="381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434E5E73-B6CE-B67D-2A31-43A0014DCBE3}"/>
                </a:ext>
              </a:extLst>
            </p:cNvPr>
            <p:cNvSpPr txBox="1"/>
            <p:nvPr/>
          </p:nvSpPr>
          <p:spPr>
            <a:xfrm>
              <a:off x="7515796" y="5944009"/>
              <a:ext cx="2023937" cy="430887"/>
            </a:xfrm>
            <a:prstGeom prst="rect">
              <a:avLst/>
            </a:prstGeom>
            <a:noFill/>
          </p:spPr>
          <p:txBody>
            <a:bodyPr wrap="square" rtlCol="0" lIns="50800" rIns="50800" tIns="25400" bIns="25400">
              <a:spAutoFit/>
            </a:bodyPr>
            <a:lstStyle/>
            <a:p>
              <a:pPr algn="ctr"/>
              <a:r>
                <a:rPr sz="1100" b="0"/>
                <a:t>ROK SHIPPING CO., LTD.</a:t>
              </a:r>
            </a:p>
            <a:p>
              <a:pPr algn="ctr"/>
              <a:r>
                <a:rPr sz="1100" b="0"/>
                <a:t>알 오 케 이 쉬 핑</a:t>
              </a:r>
            </a:p>
          </p:txBody>
        </p:sp>
      </p:grpSp>
      <p:sp>
        <p:nvSpPr>
          <p:cNvPr id="76" name="TextBox 75">
            <a:extLst>
              <a:ext uri="{FF2B5EF4-FFF2-40B4-BE49-F238E27FC236}">
                <a16:creationId xmlns:a16="http://schemas.microsoft.com/office/drawing/2014/main" id="{A6EFEE00-0E83-60A9-36C7-D68E98594988}"/>
              </a:ext>
            </a:extLst>
          </p:cNvPr>
          <p:cNvSpPr txBox="1"/>
          <p:nvPr/>
        </p:nvSpPr>
        <p:spPr>
          <a:xfrm>
            <a:off x="1042789" y="1131146"/>
            <a:ext cx="8319289" cy="2677656"/>
          </a:xfrm>
          <a:prstGeom prst="rect">
            <a:avLst/>
          </a:prstGeom>
          <a:noFill/>
        </p:spPr>
        <p:txBody>
          <a:bodyPr wrap="square" rtlCol="0" lIns="50800" rIns="50800" tIns="25400" bIns="25400">
            <a:spAutoFit/>
          </a:bodyPr>
          <a:lstStyle/>
          <a:p>
            <a:pPr algn="l"/>
            <a:r>
              <a:rPr sz="1600"/>
              <a:t>With the project logistics experience and worldwide agent network developed together with NeoKorTrans, ROK SHIPPING provides reliable and flexible solutions by air, ocean, and multimodal transportation.</a:t>
            </a:r>
          </a:p>
          <a:p>
            <a:pPr algn="l"/>
            <a:r>
              <a:rPr sz="1600"/>
              <a:t/>
            </a:r>
          </a:p>
          <a:p>
            <a:pPr algn="l"/>
            <a:r>
              <a:rPr sz="1600"/>
              <a:t>We are particularly strong in urgent and sensitive shipments where fast response, accurate documentation, airline/carrier coordination, customs support, and close operational control are critical.</a:t>
            </a:r>
          </a:p>
          <a:p>
            <a:pPr algn="l"/>
            <a:r>
              <a:rPr sz="1600"/>
              <a:t/>
            </a:r>
          </a:p>
          <a:p>
            <a:pPr algn="l"/>
            <a:r>
              <a:rPr sz="1600"/>
              <a:t>ROK SHIPPING connects Korea with global destinations, with practical strength across Japan, China, Southeast Asia, Europe, the Americas, and project sites worldwide.</a:t>
            </a:r>
          </a:p>
        </p:txBody>
      </p:sp>
      <p:pic>
        <p:nvPicPr>
          <p:cNvPr id="2" name="Picture 10">
            <a:extLst>
              <a:ext uri="{FF2B5EF4-FFF2-40B4-BE49-F238E27FC236}">
                <a16:creationId xmlns:a16="http://schemas.microsoft.com/office/drawing/2014/main" id="{A3BE9515-967E-58FD-1D89-25A366FA08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42789" y="3961979"/>
            <a:ext cx="4180147" cy="2677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5158107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그룹 25">
            <a:extLst>
              <a:ext uri="{FF2B5EF4-FFF2-40B4-BE49-F238E27FC236}">
                <a16:creationId xmlns:a16="http://schemas.microsoft.com/office/drawing/2014/main" id="{40E982E9-7BF2-5662-167D-E19742329573}"/>
              </a:ext>
            </a:extLst>
          </p:cNvPr>
          <p:cNvGrpSpPr/>
          <p:nvPr/>
        </p:nvGrpSpPr>
        <p:grpSpPr>
          <a:xfrm>
            <a:off x="438735" y="6910686"/>
            <a:ext cx="9263082" cy="430887"/>
            <a:chOff x="276651" y="5944009"/>
            <a:chExt cx="9263082" cy="430887"/>
          </a:xfrm>
        </p:grpSpPr>
        <p:pic>
          <p:nvPicPr>
            <p:cNvPr id="27" name="그림 15">
              <a:extLst>
                <a:ext uri="{FF2B5EF4-FFF2-40B4-BE49-F238E27FC236}">
                  <a16:creationId xmlns:a16="http://schemas.microsoft.com/office/drawing/2014/main" id="{05AF76DC-F15C-DB9C-F668-5A5A94C2ABC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7114721" y="5961200"/>
              <a:ext cx="408788" cy="36000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pSp>
          <p:nvGrpSpPr>
            <p:cNvPr id="28" name="그룹 10">
              <a:extLst>
                <a:ext uri="{FF2B5EF4-FFF2-40B4-BE49-F238E27FC236}">
                  <a16:creationId xmlns:a16="http://schemas.microsoft.com/office/drawing/2014/main" id="{90E3B2FC-EAFB-6C7A-8CFB-53C41725EC7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6651" y="6184676"/>
              <a:ext cx="6649612" cy="136525"/>
              <a:chOff x="322263" y="7051675"/>
              <a:chExt cx="6481762" cy="136525"/>
            </a:xfrm>
          </p:grpSpPr>
          <p:sp>
            <p:nvSpPr>
              <p:cNvPr id="30" name="Rectangle 4">
                <a:extLst>
                  <a:ext uri="{FF2B5EF4-FFF2-40B4-BE49-F238E27FC236}">
                    <a16:creationId xmlns:a16="http://schemas.microsoft.com/office/drawing/2014/main" id="{53750CBB-E6FC-485A-AD3E-B8DACD47FA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2263" y="7051675"/>
                <a:ext cx="6482176" cy="17462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 w="381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ko-KR" altLang="en-US" dirty="0">
                  <a:latin typeface="Arial" pitchFamily="34" charset="0"/>
                  <a:ea typeface="굴림" pitchFamily="50" charset="-127"/>
                </a:endParaRPr>
              </a:p>
            </p:txBody>
          </p:sp>
          <p:sp>
            <p:nvSpPr>
              <p:cNvPr id="31" name="Rectangle 4">
                <a:extLst>
                  <a:ext uri="{FF2B5EF4-FFF2-40B4-BE49-F238E27FC236}">
                    <a16:creationId xmlns:a16="http://schemas.microsoft.com/office/drawing/2014/main" id="{9C4F676C-23F2-EFAE-67A9-2D7E522D69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2263" y="7099300"/>
                <a:ext cx="6482176" cy="34925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381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ko-KR" altLang="en-US" dirty="0">
                  <a:latin typeface="Arial" pitchFamily="34" charset="0"/>
                  <a:ea typeface="굴림" pitchFamily="50" charset="-127"/>
                </a:endParaRPr>
              </a:p>
            </p:txBody>
          </p:sp>
          <p:sp>
            <p:nvSpPr>
              <p:cNvPr id="32" name="Rectangle 4">
                <a:extLst>
                  <a:ext uri="{FF2B5EF4-FFF2-40B4-BE49-F238E27FC236}">
                    <a16:creationId xmlns:a16="http://schemas.microsoft.com/office/drawing/2014/main" id="{0AE3741B-0A09-B209-E474-34DC67D9D0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2263" y="7169150"/>
                <a:ext cx="6481762" cy="19050"/>
              </a:xfrm>
              <a:prstGeom prst="rect">
                <a:avLst/>
              </a:prstGeom>
              <a:solidFill>
                <a:srgbClr val="2931CD"/>
              </a:solidFill>
              <a:ln w="381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434E5E73-B6CE-B67D-2A31-43A0014DCBE3}"/>
                </a:ext>
              </a:extLst>
            </p:cNvPr>
            <p:cNvSpPr txBox="1"/>
            <p:nvPr/>
          </p:nvSpPr>
          <p:spPr>
            <a:xfrm>
              <a:off x="7515796" y="5944009"/>
              <a:ext cx="2023937" cy="430887"/>
            </a:xfrm>
            <a:prstGeom prst="rect">
              <a:avLst/>
            </a:prstGeom>
            <a:noFill/>
          </p:spPr>
          <p:txBody>
            <a:bodyPr wrap="square" rtlCol="0" lIns="50800" rIns="50800" tIns="25400" bIns="25400">
              <a:spAutoFit/>
            </a:bodyPr>
            <a:lstStyle/>
            <a:p>
              <a:pPr algn="ctr"/>
              <a:r>
                <a:rPr sz="1100" b="0"/>
                <a:t>ROK SHIPPING CO., LTD.</a:t>
              </a:r>
            </a:p>
            <a:p>
              <a:pPr algn="ctr"/>
              <a:r>
                <a:rPr sz="1100" b="0"/>
                <a:t>알 오 케 이 쉬 핑</a:t>
              </a:r>
            </a:p>
          </p:txBody>
        </p:sp>
      </p:grpSp>
      <p:sp>
        <p:nvSpPr>
          <p:cNvPr id="67" name="TextBox 66">
            <a:extLst>
              <a:ext uri="{FF2B5EF4-FFF2-40B4-BE49-F238E27FC236}">
                <a16:creationId xmlns:a16="http://schemas.microsoft.com/office/drawing/2014/main" id="{13A74F55-E102-233F-3695-B426154105DA}"/>
              </a:ext>
            </a:extLst>
          </p:cNvPr>
          <p:cNvSpPr txBox="1"/>
          <p:nvPr/>
        </p:nvSpPr>
        <p:spPr>
          <a:xfrm>
            <a:off x="682749" y="448010"/>
            <a:ext cx="8352928" cy="5601533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400"/>
              <a:t>ROK SHIPPING CO., LTD. specializes in Critical &amp; Specialized Logistics.</a:t>
            </a:r>
            <a:endParaRPr lang="en-US" altLang="ko-KR" sz="1800" b="0" i="0" u="none" strike="noStrike" baseline="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algn="l"/>
            <a:r>
              <a:rPr sz="1400"/>
              <a:t/>
            </a:r>
          </a:p>
          <a:p>
            <a:pPr algn="l"/>
            <a:r>
              <a:rPr sz="1400"/>
              <a:t>Core Services</a:t>
            </a:r>
          </a:p>
          <a:p>
            <a:pPr algn="l"/>
            <a:r>
              <a:rPr sz="1400"/>
              <a:t>• Project Support &amp; Warranty Cargo</a:t>
            </a:r>
          </a:p>
          <a:p>
            <a:pPr algn="l"/>
            <a:r>
              <a:rPr sz="1400"/>
              <a:t>  - Warranty replacement parts / emergency spare parts</a:t>
            </a:r>
          </a:p>
          <a:p>
            <a:pPr algn="l"/>
            <a:r>
              <a:rPr sz="1400"/>
              <a:t>  - Repair and return shipments</a:t>
            </a:r>
          </a:p>
          <a:p>
            <a:pPr algn="l"/>
            <a:r>
              <a:rPr sz="1400"/>
              <a:t>  - Time-critical project support cargo</a:t>
            </a:r>
          </a:p>
          <a:p>
            <a:pPr algn="l"/>
            <a:r>
              <a:rPr sz="1400"/>
              <a:t/>
            </a:r>
          </a:p>
          <a:p>
            <a:pPr algn="l"/>
            <a:r>
              <a:rPr sz="1400"/>
              <a:t>• Urgent Air Freight</a:t>
            </a:r>
          </a:p>
          <a:p>
            <a:pPr algn="l"/>
            <a:r>
              <a:rPr sz="1400"/>
              <a:t>  - Next-flight-out arrangements</a:t>
            </a:r>
          </a:p>
          <a:p>
            <a:pPr algn="l"/>
            <a:r>
              <a:rPr sz="1400"/>
              <a:t>  - Critical cargo coordination</a:t>
            </a:r>
          </a:p>
          <a:p>
            <a:pPr algn="l"/>
            <a:r>
              <a:rPr sz="1400"/>
              <a:t>  - Door-to-door expedited service</a:t>
            </a:r>
          </a:p>
          <a:p>
            <a:pPr algn="l"/>
            <a:r>
              <a:rPr sz="1400"/>
              <a:t/>
            </a:r>
          </a:p>
          <a:p>
            <a:pPr algn="l"/>
            <a:r>
              <a:rPr sz="1400"/>
              <a:t>• Pharmaceutical &amp; Healthcare Logistics</a:t>
            </a:r>
          </a:p>
          <a:p>
            <a:pPr algn="l"/>
            <a:r>
              <a:rPr sz="1400"/>
              <a:t>  - Pharmaceutical raw materials</a:t>
            </a:r>
          </a:p>
          <a:p>
            <a:pPr algn="l"/>
            <a:r>
              <a:rPr sz="1400"/>
              <a:t>  - Temperature-sensitive and documentation-sensitive cargo</a:t>
            </a:r>
          </a:p>
          <a:p>
            <a:pPr algn="l"/>
            <a:r>
              <a:rPr sz="1400"/>
              <a:t/>
            </a:r>
          </a:p>
          <a:p>
            <a:pPr algn="l"/>
            <a:r>
              <a:rPr sz="1400"/>
              <a:t>• Precision &amp; High-Value Cargo</a:t>
            </a:r>
          </a:p>
          <a:p>
            <a:pPr algn="l"/>
            <a:r>
              <a:rPr sz="1400"/>
              <a:t>  - Precision machinery and control equipment</a:t>
            </a:r>
          </a:p>
          <a:p>
            <a:pPr algn="l"/>
            <a:r>
              <a:rPr sz="1400"/>
              <a:t>  - Sensitive equipment requiring special handling</a:t>
            </a:r>
          </a:p>
          <a:p>
            <a:pPr algn="l"/>
            <a:r>
              <a:rPr sz="1400"/>
              <a:t/>
            </a:r>
          </a:p>
          <a:p>
            <a:pPr algn="l"/>
            <a:r>
              <a:rPr sz="1400"/>
              <a:t>We will do our best to move every critical shipment safely, quickly, and accurately.</a:t>
            </a:r>
          </a:p>
        </p:txBody>
      </p:sp>
    </p:spTree>
    <p:extLst>
      <p:ext uri="{BB962C8B-B14F-4D97-AF65-F5344CB8AC3E}">
        <p14:creationId xmlns:p14="http://schemas.microsoft.com/office/powerpoint/2010/main" val="9294509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tx2">
            <a:lumMod val="60000"/>
            <a:lumOff val="40000"/>
          </a:schemeClr>
        </a:solidFill>
        <a:ln w="381">
          <a:solidFill>
            <a:srgbClr val="0000FF"/>
          </a:solidFill>
          <a:miter lim="800000"/>
          <a:headEnd/>
          <a:tailEnd/>
        </a:ln>
        <a:effectLst/>
      </a:spPr>
      <a:bodyPr/>
      <a:lstStyle>
        <a:defPPr>
          <a:defRPr dirty="0">
            <a:latin typeface="Arial" pitchFamily="34" charset="0"/>
            <a:ea typeface="굴림" pitchFamily="50" charset="-127"/>
          </a:defRPr>
        </a:defPPr>
      </a:lstStyle>
    </a:sp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8707</TotalTime>
  <Words>599</Words>
  <Application>Microsoft Office PowerPoint</Application>
  <PresentationFormat>사용자 지정</PresentationFormat>
  <Paragraphs>72</Paragraphs>
  <Slides>10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6" baseType="lpstr">
      <vt:lpstr>Söhne</vt:lpstr>
      <vt:lpstr>맑은 고딕</vt:lpstr>
      <vt:lpstr>안상수2006굵은</vt:lpstr>
      <vt:lpstr>휴먼둥근헤드라인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두수례</dc:creator>
  <cp:lastModifiedBy>Jong Seok Kim</cp:lastModifiedBy>
  <cp:revision>519</cp:revision>
  <dcterms:created xsi:type="dcterms:W3CDTF">2009-04-26T01:06:10Z</dcterms:created>
  <dcterms:modified xsi:type="dcterms:W3CDTF">2025-08-11T00:38:57Z</dcterms:modified>
</cp:coreProperties>
</file>